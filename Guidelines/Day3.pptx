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7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0" cy="5394960"/>
          </a:xfrm>
          <a:prstGeom prst="line">
            <a:avLst/>
          </a:prstGeom>
          <a:noFill/>
          <a:ln w="508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241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500" b="1">
                <a:solidFill>
                  <a:srgbClr val="FFFFFF"/>
                </a:solidFill>
              </a:rPr>
              <a:t>Day 3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749808" y="16733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EE6FF"/>
                </a:solidFill>
              </a:rPr>
              <a:t>Grounded Generation &amp; Citation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208483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DDEBFF"/>
                </a:solidFill>
              </a:rPr>
              <a:t>AI Clinical Decision Support Lite Hackathon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841248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Generate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from evidence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30752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Cite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every claim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0256" y="370332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163B59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3803904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Refuse when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insufficient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18504" y="4114800"/>
            <a:ext cx="210312" cy="0"/>
          </a:xfrm>
          <a:prstGeom prst="line">
            <a:avLst/>
          </a:prstGeom>
          <a:noFill/>
          <a:ln w="17780">
            <a:solidFill>
              <a:srgbClr val="BEE6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9808" y="605332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BFF"/>
                </a:solidFill>
              </a:rPr>
              <a:t>What students will learn and execute during Day 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01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Today’s learning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Students should leave with a safe answer generator that uses only retrieved evidence.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Conceptual goal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50976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Understand that the LLM is not the source of truth. The retrieved guideline evidence is the source of truth.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71416" y="1417320"/>
            <a:ext cx="3246120" cy="4160520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Technical goal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36008" y="1911096"/>
            <a:ext cx="291693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Build a strict grounded prompt, structured output, citation formatting, and refusal behavior when evidence is missing.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47304" y="1417320"/>
            <a:ext cx="2907792" cy="4160520"/>
          </a:xfrm>
          <a:prstGeom prst="roundRect">
            <a:avLst>
              <a:gd name="adj" fmla="val 408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Execution goal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11896" y="1911096"/>
            <a:ext cx="2578608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Connect retrieval results to generation and verify that every recommendation is traceable to document, section, and page.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02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47C27E51-345C-4D3B-AEAE-891A900F5A3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Day 2 handoff check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Generation should not start until retrieval is transparent and measurable.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Required inputs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Working Top-K retrieval.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Retrieved chunk text.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Document name.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Page number.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Section title.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Retrieval score.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417320"/>
            <a:ext cx="3154680" cy="379476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Quality baseline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911096"/>
            <a:ext cx="282549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team should already have: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15–20 test questions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Precision@K values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examples of strong and weak retrieval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selected Top-K setting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417320"/>
            <a:ext cx="2834640" cy="379476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If not ready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911096"/>
            <a:ext cx="2505456" cy="3191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Do not rely on a strong prompt to fix bad evidence.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 retrieval first.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1188720" y="56235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2"/>
                </a:solidFill>
              </a:rPr>
              <a:t>Grounded generation only works when the context is trustworthy.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03</a:t>
            </a:r>
            <a:endParaRPr lang="en-US" sz="82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0ACA4928-4626-4E80-ADF8-301FBC2E22E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Generation pipeline for today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Turn retrieved evidence into a structured answer without adding unsupported claims.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Clinical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Query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0939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86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Retrieved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Chunks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9227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074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0F2742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Grounding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Prompt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7515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62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5FB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Structured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Answer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75803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650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Citations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9409176" y="2331720"/>
            <a:ext cx="429768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93808" y="1920240"/>
            <a:ext cx="1325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970">
            <a:solidFill>
              <a:srgbClr val="D84C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202082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Safety</a:t>
            </a:r>
            <a:endParaRPr lang="en-US" sz="1070" dirty="0"/>
          </a:p>
          <a:p>
            <a:pPr marL="0" indent="0" algn="ctr">
              <a:buNone/>
            </a:pPr>
            <a:r>
              <a:rPr lang="en-US" sz="1070" b="1" dirty="0">
                <a:solidFill>
                  <a:srgbClr val="172033"/>
                </a:solidFill>
              </a:rPr>
              <a:t>Check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82296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Prompt boundary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98755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prompt must explicitly forbid using external knowledge beyond retrieved context.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4526280" y="3703320"/>
            <a:ext cx="3017520" cy="1280160"/>
          </a:xfrm>
          <a:prstGeom prst="roundRect">
            <a:avLst>
              <a:gd name="adj" fmla="val 9286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84048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Citation binding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4690872" y="4197096"/>
            <a:ext cx="26883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Each major claim should point to a chunk with document, section, and page.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229600" y="3703320"/>
            <a:ext cx="2743200" cy="1280160"/>
          </a:xfrm>
          <a:prstGeom prst="roundRect">
            <a:avLst>
              <a:gd name="adj" fmla="val 9286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84048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Refusal path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8394192" y="4197096"/>
            <a:ext cx="24140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When context is weak, the answer should say evidence is insufficient.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04</a:t>
            </a:r>
            <a:endParaRPr lang="en-US" sz="820" dirty="0"/>
          </a:p>
        </p:txBody>
      </p:sp>
      <p:pic>
        <p:nvPicPr>
          <p:cNvPr id="35" name="Google Shape;90;p1">
            <a:extLst>
              <a:ext uri="{FF2B5EF4-FFF2-40B4-BE49-F238E27FC236}">
                <a16:creationId xmlns:a16="http://schemas.microsoft.com/office/drawing/2014/main" id="{E1E95826-5F56-4B3A-9307-5DE78233672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Grounding principle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answer must be derived from retrieved guideline text, not from the model’s memory.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EAFBF7"/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Allowed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Summarize retrieved chunks.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Compare evidence across chunks.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Quote short excerpts.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Cite document + section/page.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62272" y="1417320"/>
            <a:ext cx="3246120" cy="4133088"/>
          </a:xfrm>
          <a:prstGeom prst="roundRect">
            <a:avLst>
              <a:gd name="adj" fmla="val 3662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55448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Not allowed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26864" y="1911096"/>
            <a:ext cx="2916936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Add new clinical advice.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Infer patient-specific treatment.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Invent missing thresholds.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Cite chunks that do not support the claim.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2907792" cy="4133088"/>
          </a:xfrm>
          <a:prstGeom prst="roundRect">
            <a:avLst>
              <a:gd name="adj" fmla="val 408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5448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When unsure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02752" y="1911096"/>
            <a:ext cx="2578608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State uncertainty clearly and ask for clinician review or more evidence.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143000" y="5687568"/>
            <a:ext cx="987552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5815584"/>
            <a:ext cx="9326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In clinical RAG, a fluent unsupported answer is worse than a careful refusal.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05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73564995-9378-4886-B22E-E0979F4048F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1 — Design the system prompt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The system prompt is the safety contract between retrieval and generation.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53312"/>
            <a:ext cx="5074920" cy="4462272"/>
          </a:xfrm>
          <a:prstGeom prst="roundRect">
            <a:avLst>
              <a:gd name="adj" fmla="val 2459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6642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742"/>
                </a:solidFill>
              </a:rPr>
              <a:t>System prompt must say: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4526280" cy="3246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72033"/>
                </a:solidFill>
              </a:rPr>
              <a:t>You are an evidence-grounded clinical decision support assistant.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72033"/>
                </a:solidFill>
              </a:rPr>
              <a:t>Use only the retrieved guideline context.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72033"/>
                </a:solidFill>
              </a:rPr>
              <a:t>If the context does not support the answer, state that evidence is insufficient.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72033"/>
                </a:solidFill>
              </a:rPr>
              <a:t>Do not provide patient-specific diagnosis or treatment.</a:t>
            </a:r>
            <a:endParaRPr lang="en-US" sz="1210" dirty="0"/>
          </a:p>
          <a:p>
            <a:pPr marL="0" indent="0">
              <a:buNone/>
            </a:pPr>
            <a:endParaRPr lang="en-US" sz="1210" dirty="0"/>
          </a:p>
          <a:p>
            <a:pPr marL="0" indent="0">
              <a:buNone/>
            </a:pPr>
            <a:r>
              <a:rPr lang="en-US" sz="1210" dirty="0">
                <a:solidFill>
                  <a:srgbClr val="172033"/>
                </a:solidFill>
              </a:rPr>
              <a:t>Every recommendation must include citations.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6492240" y="1536192"/>
            <a:ext cx="4343400" cy="1024128"/>
          </a:xfrm>
          <a:prstGeom prst="roundRect">
            <a:avLst>
              <a:gd name="adj" fmla="val 11607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1673352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Keep it strict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6656832" y="2029968"/>
            <a:ext cx="40142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Avoid vague instructions like “be accurate.” Use explicit rules and refusal conditions.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492240" y="2953512"/>
            <a:ext cx="4343400" cy="1024128"/>
          </a:xfrm>
          <a:prstGeom prst="roundRect">
            <a:avLst>
              <a:gd name="adj" fmla="val 11607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3090672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Keep it testable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6656832" y="3447288"/>
            <a:ext cx="40142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output should make it easy to check whether every claim has evidence.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492240" y="4370832"/>
            <a:ext cx="4343400" cy="1024128"/>
          </a:xfrm>
          <a:prstGeom prst="roundRect">
            <a:avLst>
              <a:gd name="adj" fmla="val 11607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507992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Keep it clinical-safe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656832" y="4864608"/>
            <a:ext cx="401421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assistant supports clinicians; it does not replace medical judgment.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06</a:t>
            </a:r>
            <a:endParaRPr lang="en-US" sz="820" dirty="0"/>
          </a:p>
        </p:txBody>
      </p:sp>
      <p:pic>
        <p:nvPicPr>
          <p:cNvPr id="21" name="Google Shape;90;p1">
            <a:extLst>
              <a:ext uri="{FF2B5EF4-FFF2-40B4-BE49-F238E27FC236}">
                <a16:creationId xmlns:a16="http://schemas.microsoft.com/office/drawing/2014/main" id="{AE6209A4-1FCF-4462-87AC-B95B788CFE9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2 — Structure the answer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 predictable answer format makes grounding easier to judge.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2487168" cy="4133088"/>
          </a:xfrm>
          <a:prstGeom prst="roundRect">
            <a:avLst>
              <a:gd name="adj" fmla="val 4779"/>
            </a:avLst>
          </a:prstGeom>
          <a:solidFill>
            <a:srgbClr val="EAFBF7"/>
          </a:solidFill>
          <a:ln w="12700">
            <a:solidFill>
              <a:srgbClr val="5FB4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Recommendation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157984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Short, direct, and only based on retrieved chunks. No patient-specific treatment.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3566160" y="1417320"/>
            <a:ext cx="2487168" cy="4133088"/>
          </a:xfrm>
          <a:prstGeom prst="roundRect">
            <a:avLst>
              <a:gd name="adj" fmla="val 4779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1554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Supporting Evidence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3730752" y="1911096"/>
            <a:ext cx="2157984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Bullet points mapped to the exact evidence used. Include short excerpts when useful.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355080" y="1417320"/>
            <a:ext cx="2487168" cy="4133088"/>
          </a:xfrm>
          <a:prstGeom prst="roundRect">
            <a:avLst>
              <a:gd name="adj" fmla="val 4779"/>
            </a:avLst>
          </a:prstGeom>
          <a:solidFill>
            <a:srgbClr val="F1EA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554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Citations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6519672" y="1911096"/>
            <a:ext cx="2157984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Document name + section + page. Citation should point to the supporting chunk.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0" y="1417320"/>
            <a:ext cx="2487168" cy="4133088"/>
          </a:xfrm>
          <a:prstGeom prst="roundRect">
            <a:avLst>
              <a:gd name="adj" fmla="val 4779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8592" y="15544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Confidence &amp; Safety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9308592" y="1911096"/>
            <a:ext cx="2157984" cy="35295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High / Medium / Low / Insufficient Evidence plus clinical disclaimer.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07</a:t>
            </a:r>
            <a:endParaRPr lang="en-US" sz="820" dirty="0"/>
          </a:p>
        </p:txBody>
      </p:sp>
      <p:pic>
        <p:nvPicPr>
          <p:cNvPr id="21" name="Google Shape;90;p1">
            <a:extLst>
              <a:ext uri="{FF2B5EF4-FFF2-40B4-BE49-F238E27FC236}">
                <a16:creationId xmlns:a16="http://schemas.microsoft.com/office/drawing/2014/main" id="{9053B1A3-2778-4509-ADC1-FF8ED24D695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3 — Citation formatting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Citations are not decoration. They prove traceability to the guideline.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Minimum citation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23544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Document name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Section title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Page number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Example: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NICE Hypertension Guideline, “Starting treatment”, p.18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6052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Better citation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Also include: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chunk ID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source URL if available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retrieval score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exact excerpt used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60520"/>
          </a:xfrm>
          <a:prstGeom prst="roundRect">
            <a:avLst>
              <a:gd name="adj" fmla="val 4194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Bad citation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57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A citation is bad if it points to a page that does not actually support the claim.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Judges may check this manually.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08</a:t>
            </a:r>
            <a:endParaRPr lang="en-US" sz="820" dirty="0"/>
          </a:p>
        </p:txBody>
      </p:sp>
      <p:pic>
        <p:nvPicPr>
          <p:cNvPr id="22" name="Google Shape;90;p1">
            <a:extLst>
              <a:ext uri="{FF2B5EF4-FFF2-40B4-BE49-F238E27FC236}">
                <a16:creationId xmlns:a16="http://schemas.microsoft.com/office/drawing/2014/main" id="{E162EBAB-ECC7-4CD6-B248-8136250C31B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4 — Connect claims to evidence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Every clinical statement should be traceable to one or more retrieved chunks.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4663440" cy="4389120"/>
          </a:xfrm>
          <a:prstGeom prst="roundRect">
            <a:avLst>
              <a:gd name="adj" fmla="val 270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190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Generated claim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331720"/>
            <a:ext cx="40690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</a:rPr>
              <a:t>“Treatment should be considered when blood pressure remains above the guideline threshold after assessment.”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4480560" cy="4389120"/>
          </a:xfrm>
          <a:prstGeom prst="roundRect">
            <a:avLst>
              <a:gd name="adj" fmla="val 270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719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Supporting 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2240280"/>
            <a:ext cx="35204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B8A6"/>
                </a:solidFill>
              </a:rPr>
              <a:t>Chunk text excerpt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5B8A6"/>
                </a:solidFill>
              </a:rPr>
              <a:t>+ document name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5B8A6"/>
                </a:solidFill>
              </a:rPr>
              <a:t>+ section title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5B8A6"/>
                </a:solidFill>
              </a:rPr>
              <a:t>+ page number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5B8A6"/>
                </a:solidFill>
              </a:rPr>
              <a:t>+ retrieval score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669280" y="3310128"/>
            <a:ext cx="804672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188720" y="6089904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D84C4C"/>
                </a:solidFill>
              </a:rPr>
              <a:t>If you cannot draw this link, the claim should be removed or softened.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09</a:t>
            </a:r>
            <a:endParaRPr lang="en-US" sz="820" dirty="0"/>
          </a:p>
        </p:txBody>
      </p:sp>
      <p:pic>
        <p:nvPicPr>
          <p:cNvPr id="17" name="Google Shape;90;p1">
            <a:extLst>
              <a:ext uri="{FF2B5EF4-FFF2-40B4-BE49-F238E27FC236}">
                <a16:creationId xmlns:a16="http://schemas.microsoft.com/office/drawing/2014/main" id="{B702F54C-26E7-43D4-A86B-048C2B7253F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5 — Refusal behavior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A safe system must know when not to answer.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Refuse when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No relevant chunks are retrieved.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Retrieval scores are below threshold.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Evidence is not specific enough.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User asks for diagnosis or dosage for a real patient.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53312"/>
            <a:ext cx="3154680" cy="4206240"/>
          </a:xfrm>
          <a:prstGeom prst="roundRect">
            <a:avLst>
              <a:gd name="adj" fmla="val 376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904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Good refusal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47088"/>
            <a:ext cx="282549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“The retrieved guidelines do not provide sufficient evidence to answer this question reliably. Please consult the relevant clinical guideline or a qualified clinician.”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53312"/>
            <a:ext cx="2834640" cy="4206240"/>
          </a:xfrm>
          <a:prstGeom prst="roundRect">
            <a:avLst>
              <a:gd name="adj" fmla="val 419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49047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Still be helpful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47088"/>
            <a:ext cx="2505456" cy="3602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Mention what evidence was found, what is missing, and what type of guideline would be needed.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10</a:t>
            </a:r>
            <a:endParaRPr lang="en-US" sz="820" dirty="0"/>
          </a:p>
        </p:txBody>
      </p:sp>
      <p:pic>
        <p:nvPicPr>
          <p:cNvPr id="18" name="Google Shape;90;p1">
            <a:extLst>
              <a:ext uri="{FF2B5EF4-FFF2-40B4-BE49-F238E27FC236}">
                <a16:creationId xmlns:a16="http://schemas.microsoft.com/office/drawing/2014/main" id="{9513F814-B063-45A5-AB8F-963774CF5C51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0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Step 6 — Add a confidence level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Confidence should reflect retrieval and grounding quality, not model self-belief.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417320"/>
            <a:ext cx="10195560" cy="4251960"/>
          </a:xfrm>
          <a:prstGeom prst="roundRect">
            <a:avLst>
              <a:gd name="adj" fmla="val 2796"/>
            </a:avLst>
          </a:prstGeom>
          <a:solidFill>
            <a:srgbClr val="F6F8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3FF"/>
          </a:solidFill>
          <a:ln w="1397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Retrieval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EAFBF7"/>
          </a:solidFill>
          <a:ln w="1397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Evidence match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1EA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Citation coverage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5740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2D8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157984"/>
            <a:ext cx="1819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033"/>
                </a:solidFill>
              </a:rPr>
              <a:t>Safety checks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1500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3880" y="2395728"/>
            <a:ext cx="274320" cy="0"/>
          </a:xfrm>
          <a:prstGeom prst="line">
            <a:avLst/>
          </a:prstGeom>
          <a:noFill/>
          <a:ln w="17780">
            <a:solidFill>
              <a:srgbClr val="5C667A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143000" y="37673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Suggested labels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425196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</a:rPr>
              <a:t>High  •  Medium  •  Low  •  Insufficient Evidence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504748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5C667A"/>
                </a:solidFill>
              </a:rPr>
              <a:t>Avoid exact percentages unless you have a clear calculation behind them.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11</a:t>
            </a:r>
            <a:endParaRPr lang="en-US" sz="820" dirty="0"/>
          </a:p>
        </p:txBody>
      </p:sp>
      <p:pic>
        <p:nvPicPr>
          <p:cNvPr id="25" name="Google Shape;90;p1">
            <a:extLst>
              <a:ext uri="{FF2B5EF4-FFF2-40B4-BE49-F238E27FC236}">
                <a16:creationId xmlns:a16="http://schemas.microsoft.com/office/drawing/2014/main" id="{418A76BB-17F2-4D7F-B041-DB1374294E1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Hands-on lab — Build the answer layer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Practical checklist for teams after the teaching block.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Write the strict system prompt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6400800" y="16367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insufficient-evidence refusal path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96012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Define the structured answer schema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400800" y="23225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2860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Add confidence labels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96012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Generate answers from retrieved chunks only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400800" y="30083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29718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Test direct, ambiguous, and out-of-scope questions</a:t>
            </a:r>
            <a:endParaRPr lang="en-US" sz="1160" dirty="0"/>
          </a:p>
        </p:txBody>
      </p:sp>
      <p:sp>
        <p:nvSpPr>
          <p:cNvPr id="19" name="Shape 17"/>
          <p:cNvSpPr/>
          <p:nvPr/>
        </p:nvSpPr>
        <p:spPr>
          <a:xfrm>
            <a:off x="96012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Attach citations to every recommendation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400800" y="3694176"/>
            <a:ext cx="164592" cy="164592"/>
          </a:xfrm>
          <a:prstGeom prst="ellipse">
            <a:avLst/>
          </a:prstGeom>
          <a:solidFill>
            <a:srgbClr val="15B8A6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6576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172033"/>
                </a:solidFill>
              </a:rPr>
              <a:t>Manually verify that citations support claims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1143000" y="5074920"/>
            <a:ext cx="9875520" cy="685800"/>
          </a:xfrm>
          <a:prstGeom prst="roundRect">
            <a:avLst>
              <a:gd name="adj" fmla="val 24000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5330952"/>
            <a:ext cx="9326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D84C4C"/>
                </a:solidFill>
              </a:rPr>
              <a:t>Stop point: Do not ship an answer that cannot be traced back to retrieved text.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12</a:t>
            </a:r>
            <a:endParaRPr lang="en-US" sz="820" dirty="0"/>
          </a:p>
        </p:txBody>
      </p:sp>
      <p:pic>
        <p:nvPicPr>
          <p:cNvPr id="27" name="Google Shape;90;p1">
            <a:extLst>
              <a:ext uri="{FF2B5EF4-FFF2-40B4-BE49-F238E27FC236}">
                <a16:creationId xmlns:a16="http://schemas.microsoft.com/office/drawing/2014/main" id="{DC8FE87F-97A0-4EC6-872C-50A836FA0D30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Common generation failure modes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Instructors should help students detect these issues before the final demo.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FDEBEC"/>
          </a:solidFill>
          <a:ln w="12700">
            <a:solidFill>
              <a:srgbClr val="D84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Unsupported claim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answer includes a medical statement that is not present in the retrieved chunks.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Fix: remove, cite, or refuse.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98848" y="1371600"/>
            <a:ext cx="3154680" cy="4114800"/>
          </a:xfrm>
          <a:prstGeom prst="roundRect">
            <a:avLst>
              <a:gd name="adj" fmla="val 3768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Citation mismatch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63440" y="1865376"/>
            <a:ext cx="282549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citation exists, but the cited page does not support the sentence.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Fix: map claims to exact chunks.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211312" y="1371600"/>
            <a:ext cx="2834640" cy="4114800"/>
          </a:xfrm>
          <a:prstGeom prst="roundRect">
            <a:avLst>
              <a:gd name="adj" fmla="val 419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0876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Overconfident tone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75904" y="1865376"/>
            <a:ext cx="2505456" cy="3511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The system answers as if it is giving direct clinical advice.</a:t>
            </a:r>
            <a:endParaRPr lang="en-US" sz="1030" dirty="0"/>
          </a:p>
          <a:p>
            <a:pPr marL="0" indent="0">
              <a:buNone/>
            </a:pP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Fix: use support language and disclaimer.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13</a:t>
            </a:r>
            <a:endParaRPr lang="en-US" sz="820" dirty="0"/>
          </a:p>
        </p:txBody>
      </p:sp>
      <p:pic>
        <p:nvPicPr>
          <p:cNvPr id="19" name="Google Shape;90;p1">
            <a:extLst>
              <a:ext uri="{FF2B5EF4-FFF2-40B4-BE49-F238E27FC236}">
                <a16:creationId xmlns:a16="http://schemas.microsoft.com/office/drawing/2014/main" id="{D88E51E0-37A8-4FC5-A4B6-E87F94B57E8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64592"/>
            <a:ext cx="0" cy="822960"/>
          </a:xfrm>
          <a:prstGeom prst="line">
            <a:avLst/>
          </a:prstGeom>
          <a:noFill/>
          <a:ln w="38100">
            <a:solidFill>
              <a:srgbClr val="15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8404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F2742"/>
                </a:solidFill>
              </a:rPr>
              <a:t>End-of-day review questions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" y="822960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667A"/>
                </a:solidFill>
              </a:rPr>
              <a:t>Use these questions to decide whether the team is ready for Day 4: Safety &amp; Evaluation.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685800" y="1124712"/>
            <a:ext cx="10835640" cy="0"/>
          </a:xfrm>
          <a:prstGeom prst="line">
            <a:avLst/>
          </a:prstGeom>
          <a:noFill/>
          <a:ln w="8890">
            <a:solidFill>
              <a:srgbClr val="D8DE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Grounding quality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94183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Does the answer use only retrieved context?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unsupported claims removed?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Does it refuse weak evidence?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154680" cy="3566160"/>
          </a:xfrm>
          <a:prstGeom prst="roundRect">
            <a:avLst>
              <a:gd name="adj" fmla="val 3768"/>
            </a:avLst>
          </a:prstGeom>
          <a:solidFill>
            <a:srgbClr val="EAFBF7"/>
          </a:solidFill>
          <a:ln w="12700">
            <a:solidFill>
              <a:srgbClr val="15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54480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Citation quality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645152" y="1911096"/>
            <a:ext cx="282549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Does each recommendation have a citation?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document, section, and page shown?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Do citations actually support the claims?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2834640" cy="3566160"/>
          </a:xfrm>
          <a:prstGeom prst="roundRect">
            <a:avLst>
              <a:gd name="adj" fmla="val 4194"/>
            </a:avLst>
          </a:prstGeom>
          <a:solidFill>
            <a:srgbClr val="FFF2D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554480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b="1" dirty="0">
                <a:solidFill>
                  <a:srgbClr val="0F2742"/>
                </a:solidFill>
              </a:rPr>
              <a:t>Safety quality</a:t>
            </a:r>
            <a:endParaRPr lang="en-US" sz="1270" dirty="0"/>
          </a:p>
        </p:txBody>
      </p:sp>
      <p:sp>
        <p:nvSpPr>
          <p:cNvPr id="15" name="Text 13"/>
          <p:cNvSpPr/>
          <p:nvPr/>
        </p:nvSpPr>
        <p:spPr>
          <a:xfrm>
            <a:off x="8348472" y="1911096"/>
            <a:ext cx="2505456" cy="2962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there a disclaimer?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Is confidence shown carefully?</a:t>
            </a:r>
            <a:endParaRPr lang="en-US" sz="1030" dirty="0"/>
          </a:p>
          <a:p>
            <a:pPr marL="0" indent="0">
              <a:buNone/>
            </a:pPr>
            <a:r>
              <a:rPr lang="en-US" sz="1030" dirty="0">
                <a:solidFill>
                  <a:srgbClr val="172033"/>
                </a:solidFill>
              </a:rPr>
              <a:t>• Are patient-specific requests handled safely?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417320" y="5486400"/>
            <a:ext cx="9098280" cy="438912"/>
          </a:xfrm>
          <a:prstGeom prst="roundRect">
            <a:avLst>
              <a:gd name="adj" fmla="val 37500"/>
            </a:avLst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5614416"/>
            <a:ext cx="8641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</a:rPr>
              <a:t>Ready for Day 4 when the team can prove answer → citation → exact retrieved evidence.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694944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5C667A"/>
                </a:solidFill>
              </a:rPr>
              <a:t>AI Clinical Decision Support Lite Hackathon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11018520" y="6428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5C667A"/>
                </a:solidFill>
              </a:rPr>
              <a:t>14</a:t>
            </a:r>
            <a:endParaRPr lang="en-US" sz="820" dirty="0"/>
          </a:p>
        </p:txBody>
      </p:sp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4FE2F458-7A96-4281-B01A-E519BE146BB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10510684" y="-9329"/>
            <a:ext cx="1681316" cy="155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1276</Words>
  <Application>Microsoft Office PowerPoint</Application>
  <PresentationFormat>Widescreen</PresentationFormat>
  <Paragraphs>232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Student Session</dc:title>
  <dc:subject>AI Clinical Decision Support Lite Hackathon - Day 3 Student Session</dc:subject>
  <dc:creator>OpenAI</dc:creator>
  <cp:lastModifiedBy>Abdallah Wagih</cp:lastModifiedBy>
  <cp:revision>7</cp:revision>
  <dcterms:created xsi:type="dcterms:W3CDTF">2026-07-26T08:18:13Z</dcterms:created>
  <dcterms:modified xsi:type="dcterms:W3CDTF">2026-07-28T17:23:07Z</dcterms:modified>
</cp:coreProperties>
</file>