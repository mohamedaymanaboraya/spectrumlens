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460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82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4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65006" y="3770252"/>
            <a:ext cx="9419304" cy="17906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vert="horz" lIns="91425" tIns="45700" rIns="91425" bIns="45700" rtlCol="0" anchorCtr="0">
            <a:norm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  <a:buSzPts val="3200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 Clinical Decision Support Lite Hackathon</a:t>
            </a:r>
          </a:p>
        </p:txBody>
      </p:sp>
      <p:pic>
        <p:nvPicPr>
          <p:cNvPr id="6" name="Google Shape;90;p1">
            <a:extLst>
              <a:ext uri="{FF2B5EF4-FFF2-40B4-BE49-F238E27FC236}">
                <a16:creationId xmlns:a16="http://schemas.microsoft.com/office/drawing/2014/main" id="{D7580F5E-20D3-45FE-8B80-F792D5F3A301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0" cy="5394960"/>
          </a:xfrm>
          <a:prstGeom prst="line">
            <a:avLst/>
          </a:prstGeom>
          <a:noFill/>
          <a:ln w="508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241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Day 4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49808" y="16733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EE6FF"/>
                </a:solidFill>
              </a:rPr>
              <a:t>Safety, Guardrails &amp; Internal Evaluation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20848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DEBFF"/>
                </a:solidFill>
              </a:rPr>
              <a:t>AI Clinical Decision Support Lite Hackathon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841248" y="37033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63B59"/>
          </a:solidFill>
          <a:ln w="13970">
            <a:solidFill>
              <a:srgbClr val="D84C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8039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Detect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risk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30752" y="37033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63B59"/>
          </a:solidFill>
          <a:ln w="1397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9624" y="38039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Measure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quality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20256" y="37033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63B59"/>
          </a:solidFill>
          <a:ln w="1397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38039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Improve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reliability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29000" y="4114800"/>
            <a:ext cx="210312" cy="0"/>
          </a:xfrm>
          <a:prstGeom prst="line">
            <a:avLst/>
          </a:prstGeom>
          <a:noFill/>
          <a:ln w="17780">
            <a:solidFill>
              <a:srgbClr val="BEE6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18504" y="4114800"/>
            <a:ext cx="210312" cy="0"/>
          </a:xfrm>
          <a:prstGeom prst="line">
            <a:avLst/>
          </a:prstGeom>
          <a:noFill/>
          <a:ln w="17780">
            <a:solidFill>
              <a:srgbClr val="BEE6F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9808" y="60533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BFF"/>
                </a:solidFill>
              </a:rPr>
              <a:t>What students will learn and execute during Day 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01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Today’s learning objectives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Students should leave with guardrails, metrics, and a testable safety workflow.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417320"/>
            <a:ext cx="3246120" cy="4160520"/>
          </a:xfrm>
          <a:prstGeom prst="roundRect">
            <a:avLst>
              <a:gd name="adj" fmla="val 3662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Safety goal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50976" y="1911096"/>
            <a:ext cx="291693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Know when the system must warn, refuse, reduce confidence, or request more evidence instead of generating a confident clinical answer.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71416" y="1417320"/>
            <a:ext cx="3246120" cy="4160520"/>
          </a:xfrm>
          <a:prstGeom prst="roundRect">
            <a:avLst>
              <a:gd name="adj" fmla="val 3662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Evaluation goal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36008" y="1911096"/>
            <a:ext cx="291693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Implement at least two measurable metrics such as Precision@K, citation accuracy, faithfulness, or unsupported claim rate.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47304" y="1417320"/>
            <a:ext cx="2907792" cy="4160520"/>
          </a:xfrm>
          <a:prstGeom prst="roundRect">
            <a:avLst>
              <a:gd name="adj" fmla="val 408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55448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Execution goal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11896" y="1911096"/>
            <a:ext cx="2578608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Create an internal evaluation set, run it, interpret results, and identify the highest-risk failure modes before final demo.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02</a:t>
            </a:r>
            <a:endParaRPr lang="en-US" sz="82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20EA3259-EBDE-4D7A-8F9E-8FCF0FF11DC0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Day 3 handoff check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Safety and evaluation depend on having a working grounded answer layer.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3154680" cy="379476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Required inputs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911096"/>
            <a:ext cx="2825496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Working retrieval pipeline.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Structured answers.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Citations with page/section.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Refusal behavior.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Confidence label.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98848" y="1417320"/>
            <a:ext cx="3154680" cy="3794760"/>
          </a:xfrm>
          <a:prstGeom prst="roundRect">
            <a:avLst>
              <a:gd name="adj" fmla="val 376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Quality baseline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63440" y="1911096"/>
            <a:ext cx="2825496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The team should already be able to show: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answer → claim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claim → citation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citation → exact chunk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refusal on weak evidence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11312" y="1417320"/>
            <a:ext cx="2834640" cy="3794760"/>
          </a:xfrm>
          <a:prstGeom prst="roundRect">
            <a:avLst>
              <a:gd name="adj" fmla="val 4194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55448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If not ready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75904" y="1911096"/>
            <a:ext cx="2505456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Do not create fake metrics.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Fix the pipeline, then measure it.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1188720" y="56235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2"/>
                </a:solidFill>
              </a:rPr>
              <a:t>Day 4 turns the prototype into something judges can trust.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03</a:t>
            </a:r>
            <a:endParaRPr lang="en-US" sz="820" dirty="0"/>
          </a:p>
        </p:txBody>
      </p:sp>
      <p:pic>
        <p:nvPicPr>
          <p:cNvPr id="19" name="Google Shape;90;p1">
            <a:extLst>
              <a:ext uri="{FF2B5EF4-FFF2-40B4-BE49-F238E27FC236}">
                <a16:creationId xmlns:a16="http://schemas.microsoft.com/office/drawing/2014/main" id="{CBBD6610-C2EC-46BD-A14C-528406F6CFC8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Safety workflow for today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Guardrails should happen before, during, and after generation.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84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Input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Risk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20939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786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Retrieval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Threshold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39227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074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Evidence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Check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57515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362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15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Grounded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Answer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75803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650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0F2742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Claim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Validation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94091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938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5FB4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126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Final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Safety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822960" y="3703320"/>
            <a:ext cx="3017520" cy="1280160"/>
          </a:xfrm>
          <a:prstGeom prst="roundRect">
            <a:avLst>
              <a:gd name="adj" fmla="val 9286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840480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Before generation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987552" y="4197096"/>
            <a:ext cx="26883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Block or downgrade unsafe, out-of-scope, and low-evidence queries.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4526280" y="3703320"/>
            <a:ext cx="3017520" cy="1280160"/>
          </a:xfrm>
          <a:prstGeom prst="roundRect">
            <a:avLst>
              <a:gd name="adj" fmla="val 9286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3840480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During generation</a:t>
            </a:r>
            <a:endParaRPr lang="en-US" sz="1270" dirty="0"/>
          </a:p>
        </p:txBody>
      </p:sp>
      <p:sp>
        <p:nvSpPr>
          <p:cNvPr id="29" name="Text 27"/>
          <p:cNvSpPr/>
          <p:nvPr/>
        </p:nvSpPr>
        <p:spPr>
          <a:xfrm>
            <a:off x="4690872" y="4197096"/>
            <a:ext cx="26883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Force the answer to stay inside retrieved context and cite every claim.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229600" y="3703320"/>
            <a:ext cx="2743200" cy="1280160"/>
          </a:xfrm>
          <a:prstGeom prst="roundRect">
            <a:avLst>
              <a:gd name="adj" fmla="val 9286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384048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After generation</a:t>
            </a:r>
            <a:endParaRPr lang="en-US" sz="1270" dirty="0"/>
          </a:p>
        </p:txBody>
      </p:sp>
      <p:sp>
        <p:nvSpPr>
          <p:cNvPr id="32" name="Text 30"/>
          <p:cNvSpPr/>
          <p:nvPr/>
        </p:nvSpPr>
        <p:spPr>
          <a:xfrm>
            <a:off x="8394192" y="4197096"/>
            <a:ext cx="241401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Check claims, citations, confidence, and refusal behavior.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04</a:t>
            </a:r>
            <a:endParaRPr lang="en-US" sz="820" dirty="0"/>
          </a:p>
        </p:txBody>
      </p:sp>
      <p:pic>
        <p:nvPicPr>
          <p:cNvPr id="35" name="Google Shape;90;p1">
            <a:extLst>
              <a:ext uri="{FF2B5EF4-FFF2-40B4-BE49-F238E27FC236}">
                <a16:creationId xmlns:a16="http://schemas.microsoft.com/office/drawing/2014/main" id="{28BB5197-EEF9-450E-8571-FC791D8134A0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Guardrail 1 — Input risk classification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Classify the question before retrieving or generating.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3246120" cy="4133088"/>
          </a:xfrm>
          <a:prstGeom prst="roundRect">
            <a:avLst>
              <a:gd name="adj" fmla="val 3662"/>
            </a:avLst>
          </a:prstGeom>
          <a:solidFill>
            <a:srgbClr val="EAFBF7"/>
          </a:solidFill>
          <a:ln w="12700">
            <a:solidFill>
              <a:srgbClr val="5FB4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Allowed / low risk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911096"/>
            <a:ext cx="2916936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General guideline question.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Population-level recommendation.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Evidence summary.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“What does the guideline say about...”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62272" y="1417320"/>
            <a:ext cx="3246120" cy="4133088"/>
          </a:xfrm>
          <a:prstGeom prst="roundRect">
            <a:avLst>
              <a:gd name="adj" fmla="val 3662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Needs caution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26864" y="1911096"/>
            <a:ext cx="2916936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Patient-specific scenario.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Symptoms and diagnosis request.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Dose or medication choice.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Emergency-like wording.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2907792" cy="4133088"/>
          </a:xfrm>
          <a:prstGeom prst="roundRect">
            <a:avLst>
              <a:gd name="adj" fmla="val 4088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5448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Refuse / redirect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02752" y="1911096"/>
            <a:ext cx="2578608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Urgent medical emergency.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Request to override clinician advice.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No guideline scope.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Insufficient context.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143000" y="5687568"/>
            <a:ext cx="9875520" cy="438912"/>
          </a:xfrm>
          <a:prstGeom prst="roundRect">
            <a:avLst>
              <a:gd name="adj" fmla="val 37500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5815584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The system supports evidence lookup; it is not a direct treatment engine.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05</a:t>
            </a:r>
            <a:endParaRPr lang="en-US" sz="820" dirty="0"/>
          </a:p>
        </p:txBody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948688DD-9F42-476B-B563-C96CA980A30D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Guardrail 2 — Retrieval confidence thresholds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Low-quality retrieval should trigger caution before the answer is generated.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17320"/>
            <a:ext cx="10195560" cy="4251960"/>
          </a:xfrm>
          <a:prstGeom prst="roundRect">
            <a:avLst>
              <a:gd name="adj" fmla="val 2796"/>
            </a:avLst>
          </a:prstGeom>
          <a:solidFill>
            <a:srgbClr val="F6F8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029968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EAFBF7"/>
          </a:solidFill>
          <a:ln w="13970">
            <a:solidFill>
              <a:srgbClr val="5FB4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130552"/>
            <a:ext cx="2002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High match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2029968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FFF2D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2130552"/>
            <a:ext cx="2002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Moderate match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2029968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FDEBEC"/>
          </a:solidFill>
          <a:ln w="13970">
            <a:solidFill>
              <a:srgbClr val="D84C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2130552"/>
            <a:ext cx="2002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Low match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2359152"/>
            <a:ext cx="18288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200" y="2359152"/>
            <a:ext cx="18288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143000" y="33101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0390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FB49C"/>
                </a:solidFill>
              </a:rPr>
              <a:t>Answer with citations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03320" y="368503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59E0B"/>
                </a:solidFill>
              </a:rPr>
              <a:t>Answer cautiously or ask for more evidence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6428232" y="38039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84C4C"/>
                </a:solidFill>
              </a:rPr>
              <a:t>Refuse: insufficient evidence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80160" y="504748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5C667A"/>
                </a:solidFill>
              </a:rPr>
              <a:t>The actual threshold can be tuned using test questions and retrieval scores.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06</a:t>
            </a:r>
            <a:endParaRPr lang="en-US" sz="820" dirty="0"/>
          </a:p>
        </p:txBody>
      </p:sp>
      <p:pic>
        <p:nvPicPr>
          <p:cNvPr id="23" name="Google Shape;90;p1">
            <a:extLst>
              <a:ext uri="{FF2B5EF4-FFF2-40B4-BE49-F238E27FC236}">
                <a16:creationId xmlns:a16="http://schemas.microsoft.com/office/drawing/2014/main" id="{F3C4BE3D-2DB8-4799-A6DB-F6EA98BCD545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Guardrail 3 — Unsupported claim detection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After generation, check whether each claim is supported by retrieved evidence.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417320"/>
            <a:ext cx="3246120" cy="4160520"/>
          </a:xfrm>
          <a:prstGeom prst="roundRect">
            <a:avLst>
              <a:gd name="adj" fmla="val 3662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Claim extraction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50976" y="1911096"/>
            <a:ext cx="291693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Split the answer into clinical claims: recommendations, thresholds, risks, exclusions, and warnings.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71416" y="1417320"/>
            <a:ext cx="3246120" cy="4160520"/>
          </a:xfrm>
          <a:prstGeom prst="roundRect">
            <a:avLst>
              <a:gd name="adj" fmla="val 3662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Evidence matching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36008" y="1911096"/>
            <a:ext cx="291693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For each claim, verify that at least one retrieved chunk directly supports it.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47304" y="1417320"/>
            <a:ext cx="2907792" cy="4160520"/>
          </a:xfrm>
          <a:prstGeom prst="roundRect">
            <a:avLst>
              <a:gd name="adj" fmla="val 4088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55448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Action on failure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11896" y="1911096"/>
            <a:ext cx="2578608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Remove the claim, soften it, add a warning, or trigger insufficient-evidence refusal.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07</a:t>
            </a:r>
            <a:endParaRPr lang="en-US" sz="82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E95CA4B2-6D21-46FF-9F88-28BDF0EEC6AD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Internal evaluation dataset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Students need a small but structured test set, not random demo questions.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371600"/>
            <a:ext cx="3154680" cy="416052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0876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Question set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23544" y="1865376"/>
            <a:ext cx="282549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Create 20–30 clinical questions: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direct evidence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multi-chunk evidence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ambiguous wording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out-of-scope cases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refusal cases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98848" y="1371600"/>
            <a:ext cx="3154680" cy="4160520"/>
          </a:xfrm>
          <a:prstGeom prst="roundRect">
            <a:avLst>
              <a:gd name="adj" fmla="val 376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0876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Ground truth fields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63440" y="1865376"/>
            <a:ext cx="282549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For each question, record: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expected document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expected section/page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expected relevant chunks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expected behavior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11312" y="1371600"/>
            <a:ext cx="2834640" cy="4160520"/>
          </a:xfrm>
          <a:prstGeom prst="roundRect">
            <a:avLst>
              <a:gd name="adj" fmla="val 4194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5087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Why it matters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75904" y="1865376"/>
            <a:ext cx="250545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Judges reward measurable evaluation and insightful interpretation, not only a smooth chatbot demo.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08</a:t>
            </a:r>
            <a:endParaRPr lang="en-US" sz="82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A5C6FF4D-0E5A-4E01-82DA-F88FDD28833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Metric 1 — Retrieval Precision@K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Measure whether the retrieved chunks are actually relevant to the question.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17320"/>
            <a:ext cx="4663440" cy="4389120"/>
          </a:xfrm>
          <a:prstGeom prst="roundRect">
            <a:avLst>
              <a:gd name="adj" fmla="val 270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190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Formula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240280"/>
            <a:ext cx="406908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F80ED"/>
                </a:solidFill>
              </a:rPr>
              <a:t>Precision@K =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2F80ED"/>
                </a:solidFill>
              </a:rPr>
              <a:t>Relevant chunks in Top-K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2F80ED"/>
                </a:solidFill>
              </a:rPr>
              <a:t>÷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2F80ED"/>
                </a:solidFill>
              </a:rPr>
              <a:t>K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4480560" cy="4389120"/>
          </a:xfrm>
          <a:prstGeom prst="roundRect">
            <a:avLst>
              <a:gd name="adj" fmla="val 270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719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Example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59168" y="2148840"/>
            <a:ext cx="35204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B8A6"/>
                </a:solidFill>
              </a:rPr>
              <a:t>Top-5 retrieved chunks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5B8A6"/>
                </a:solidFill>
              </a:rPr>
              <a:t>3 are relevant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5B8A6"/>
                </a:solidFill>
              </a:rPr>
              <a:t>Precision@5 = 3/5 = 0.60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669280" y="3310128"/>
            <a:ext cx="804672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188720" y="6089904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F2742"/>
                </a:solidFill>
              </a:rPr>
              <a:t>Use this to compare chunking, embedding model, Top-K, and reranking choices.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09</a:t>
            </a:r>
            <a:endParaRPr lang="en-US" sz="820" dirty="0"/>
          </a:p>
        </p:txBody>
      </p:sp>
      <p:pic>
        <p:nvPicPr>
          <p:cNvPr id="17" name="Google Shape;90;p1">
            <a:extLst>
              <a:ext uri="{FF2B5EF4-FFF2-40B4-BE49-F238E27FC236}">
                <a16:creationId xmlns:a16="http://schemas.microsoft.com/office/drawing/2014/main" id="{30B625F4-7044-4B38-8295-3F70C9C67713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Metric 2 — Citation accuracy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Measure whether citations point to evidence that truly supports the answer.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53312"/>
            <a:ext cx="3154680" cy="420624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90472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What to check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847088"/>
            <a:ext cx="2825496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For each answer: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document name correct?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section/page correct?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cited text supports the claim?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citation is not decorative?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98848" y="1353312"/>
            <a:ext cx="3154680" cy="4206240"/>
          </a:xfrm>
          <a:prstGeom prst="roundRect">
            <a:avLst>
              <a:gd name="adj" fmla="val 376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90472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Formula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63440" y="1847088"/>
            <a:ext cx="2825496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Citation Accuracy =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Correct supporting citations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÷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Total citations checked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11312" y="1353312"/>
            <a:ext cx="2834640" cy="4206240"/>
          </a:xfrm>
          <a:prstGeom prst="roundRect">
            <a:avLst>
              <a:gd name="adj" fmla="val 4194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49047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Common issue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75904" y="1847088"/>
            <a:ext cx="2505456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The model cites the right document but the wrong page or a weakly related section.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That should count as incorrect.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10</a:t>
            </a:r>
            <a:endParaRPr lang="en-US" sz="82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4C7BDB60-ED7F-4916-958C-C21A2C48D705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Metric 3 — Faithfulness / unsupported claim rate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Measure whether the answer stays inside the retrieved context.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17320"/>
            <a:ext cx="10195560" cy="4251960"/>
          </a:xfrm>
          <a:prstGeom prst="roundRect">
            <a:avLst>
              <a:gd name="adj" fmla="val 2796"/>
            </a:avLst>
          </a:prstGeom>
          <a:solidFill>
            <a:srgbClr val="F6F8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0574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397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157984"/>
            <a:ext cx="1819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Extract claims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20574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EAFBF7"/>
          </a:solidFill>
          <a:ln w="1397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2157984"/>
            <a:ext cx="1819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Match evidence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0574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EAFBF7"/>
          </a:solidFill>
          <a:ln w="13970">
            <a:solidFill>
              <a:srgbClr val="5FB4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2157984"/>
            <a:ext cx="1819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Mark supported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49640" y="20574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DEBEC"/>
          </a:solidFill>
          <a:ln w="13970">
            <a:solidFill>
              <a:srgbClr val="D84C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2157984"/>
            <a:ext cx="1819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Count failures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395728"/>
            <a:ext cx="27432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15000" y="2395728"/>
            <a:ext cx="27432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83880" y="2395728"/>
            <a:ext cx="27432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143000" y="3767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Unsupported Claim Rate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25196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84C4C"/>
                </a:solidFill>
              </a:rPr>
              <a:t>Unsupported claims ÷ Total claims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504748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5C667A"/>
                </a:solidFill>
              </a:rPr>
              <a:t>Lower is better. A clinical RAG system should prefer cautious answers over unsupported detail.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11</a:t>
            </a:r>
            <a:endParaRPr lang="en-US" sz="820" dirty="0"/>
          </a:p>
        </p:txBody>
      </p:sp>
      <p:pic>
        <p:nvPicPr>
          <p:cNvPr id="24" name="Google Shape;90;p1">
            <a:extLst>
              <a:ext uri="{FF2B5EF4-FFF2-40B4-BE49-F238E27FC236}">
                <a16:creationId xmlns:a16="http://schemas.microsoft.com/office/drawing/2014/main" id="{0BC7F5DF-40AC-4876-A777-C83724AC1A0E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Hands-on lab — Build the safety &amp; evaluation layer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Practical checklist for teams after the teaching block.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367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6002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Add input risk classification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400800" y="16367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6002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Create 20–30 evaluation questions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960120" y="23225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2860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Add retrieval confidence thresholds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6400800" y="23225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2860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Calculate Precision@K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960120" y="30083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29718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Implement insufficient-evidence fallback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6400800" y="30083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29718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Check citation accuracy manually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960120" y="36941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6576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Add final clinical safety disclaimer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6400800" y="36941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6576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Report faithfulness or unsupported claim rate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1143000" y="5074920"/>
            <a:ext cx="9875520" cy="685800"/>
          </a:xfrm>
          <a:prstGeom prst="roundRect">
            <a:avLst>
              <a:gd name="adj" fmla="val 24000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5330952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59E0B"/>
                </a:solidFill>
              </a:rPr>
              <a:t>Stop point: The demo should include one normal answer and one safe refusal case.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12</a:t>
            </a:r>
            <a:endParaRPr lang="en-US" sz="820" dirty="0"/>
          </a:p>
        </p:txBody>
      </p:sp>
      <p:pic>
        <p:nvPicPr>
          <p:cNvPr id="27" name="Google Shape;90;p1">
            <a:extLst>
              <a:ext uri="{FF2B5EF4-FFF2-40B4-BE49-F238E27FC236}">
                <a16:creationId xmlns:a16="http://schemas.microsoft.com/office/drawing/2014/main" id="{B2D97073-B769-41D1-9BBA-275D670CEF48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How to interpret evaluation results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Metrics are useful only when teams explain what they learned from them.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71600"/>
            <a:ext cx="3154680" cy="411480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0876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Low Precision@K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865376"/>
            <a:ext cx="2825496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Likely issues: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chunking too broad/narrow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weak embedding model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query phrasing mismatch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missing reranking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98848" y="1371600"/>
            <a:ext cx="3154680" cy="4114800"/>
          </a:xfrm>
          <a:prstGeom prst="roundRect">
            <a:avLst>
              <a:gd name="adj" fmla="val 3768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0876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Low citation accuracy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63440" y="1865376"/>
            <a:ext cx="2825496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Likely issues: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metadata mismatch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page tracking error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citation added by LLM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claim not mapped to chunk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11312" y="1371600"/>
            <a:ext cx="2834640" cy="4114800"/>
          </a:xfrm>
          <a:prstGeom prst="roundRect">
            <a:avLst>
              <a:gd name="adj" fmla="val 4194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5087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High unsupported claims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75904" y="1865376"/>
            <a:ext cx="2505456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Likely issues: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prompt too loose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context too small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model uses prior knowledge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no post-check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13</a:t>
            </a:r>
            <a:endParaRPr lang="en-US" sz="82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A05EDD07-48E5-4036-8BBC-50C7CBDCEA03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End-of-day review questions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Use these questions to decide whether the team is ready for Day 5: Final Demo.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3154680" cy="3566160"/>
          </a:xfrm>
          <a:prstGeom prst="roundRect">
            <a:avLst>
              <a:gd name="adj" fmla="val 3768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Safety readiness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911096"/>
            <a:ext cx="2825496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Does the system refuse unsafe or weak-evidence questions?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Is confidence tied to evidence quality?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Is the disclaimer visible?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3154680" cy="356616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Evaluation readiness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45152" y="1911096"/>
            <a:ext cx="2825496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Are at least two metrics implemented?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Are results shown clearly?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Can the team explain what improved?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2834640" cy="3566160"/>
          </a:xfrm>
          <a:prstGeom prst="roundRect">
            <a:avLst>
              <a:gd name="adj" fmla="val 4194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55448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Demo readiness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48472" y="1911096"/>
            <a:ext cx="2505456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Can the team show a normal answer?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Can they show a refusal case?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Can they trace answer → evidence?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417320" y="5486400"/>
            <a:ext cx="9098280" cy="438912"/>
          </a:xfrm>
          <a:prstGeom prst="roundRect">
            <a:avLst>
              <a:gd name="adj" fmla="val 37500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5614416"/>
            <a:ext cx="8641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Ready for Day 5 when the team can prove the system is useful, measurable, and safe.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14</a:t>
            </a:r>
            <a:endParaRPr lang="en-US" sz="820" dirty="0"/>
          </a:p>
        </p:txBody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A684817B-6BA8-442A-B637-8AA9074B50FC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1176</Words>
  <Application>Microsoft Office PowerPoint</Application>
  <PresentationFormat>Widescreen</PresentationFormat>
  <Paragraphs>239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AI Clinical Decision Support Lite Hackathon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Student Session</dc:title>
  <dc:subject>AI Clinical Decision Support Lite Hackathon - Day 4 Student Session</dc:subject>
  <dc:creator>OpenAI</dc:creator>
  <cp:lastModifiedBy>Abdallah Wagih</cp:lastModifiedBy>
  <cp:revision>3</cp:revision>
  <dcterms:created xsi:type="dcterms:W3CDTF">2026-07-26T08:29:19Z</dcterms:created>
  <dcterms:modified xsi:type="dcterms:W3CDTF">2026-07-28T17:23:00Z</dcterms:modified>
</cp:coreProperties>
</file>