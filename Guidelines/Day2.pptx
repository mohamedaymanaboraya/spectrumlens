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8288000" cy="10287000"/>
  <p:notesSz cx="6858000" cy="9144000"/>
  <p:embeddedFontLst>
    <p:embeddedFont>
      <p:font typeface="Arial" panose="020B0604020202020204" pitchFamily="34" charset="0"/>
      <p:regular r:id="rId18"/>
    </p:embeddedFont>
    <p:embeddedFont>
      <p:font typeface="Arial Bold" panose="020B0704020202020204" pitchFamily="34" charset="0"/>
      <p:regular r:id="rId19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7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5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2197509" y="5655379"/>
            <a:ext cx="14128956" cy="26860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vert="horz" lIns="137138" tIns="68550" rIns="137138" bIns="6855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  <a:buSzPts val="3200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AI Clinical Decision Support Lite Hackathon</a:t>
            </a:r>
          </a:p>
        </p:txBody>
      </p:sp>
      <p:pic>
        <p:nvPicPr>
          <p:cNvPr id="6" name="Google Shape;90;p1">
            <a:extLst>
              <a:ext uri="{FF2B5EF4-FFF2-40B4-BE49-F238E27FC236}">
                <a16:creationId xmlns:a16="http://schemas.microsoft.com/office/drawing/2014/main" id="{D7580F5E-20D3-45FE-8B80-F792D5F3A301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5766026" y="1"/>
            <a:ext cx="2521974" cy="2330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367960">
            <a:off x="-2987221" y="5124450"/>
            <a:ext cx="8168992" cy="0"/>
          </a:xfrm>
          <a:prstGeom prst="line">
            <a:avLst/>
          </a:prstGeom>
          <a:ln w="38100" cap="rnd">
            <a:solidFill>
              <a:srgbClr val="15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97280" y="1536192"/>
            <a:ext cx="12070080" cy="1088222"/>
            <a:chOff x="0" y="0"/>
            <a:chExt cx="16093440" cy="14509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093439" cy="1450963"/>
            </a:xfrm>
            <a:custGeom>
              <a:avLst/>
              <a:gdLst/>
              <a:ahLst/>
              <a:cxnLst/>
              <a:rect l="l" t="t" r="r" b="b"/>
              <a:pathLst>
                <a:path w="16093439" h="1450963">
                  <a:moveTo>
                    <a:pt x="0" y="0"/>
                  </a:moveTo>
                  <a:lnTo>
                    <a:pt x="16093439" y="0"/>
                  </a:lnTo>
                  <a:lnTo>
                    <a:pt x="16093439" y="1450963"/>
                  </a:lnTo>
                  <a:lnTo>
                    <a:pt x="0" y="14509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458" b="-15078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6093440" cy="1479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300"/>
                </a:lnSpc>
              </a:pPr>
              <a:r>
                <a:rPr lang="en-US" sz="525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Day 2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24712" y="2510028"/>
            <a:ext cx="11795760" cy="480060"/>
            <a:chOff x="0" y="0"/>
            <a:chExt cx="15727680" cy="6400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27680" cy="640080"/>
            </a:xfrm>
            <a:custGeom>
              <a:avLst/>
              <a:gdLst/>
              <a:ahLst/>
              <a:cxnLst/>
              <a:rect l="l" t="t" r="r" b="b"/>
              <a:pathLst>
                <a:path w="15727680" h="640080">
                  <a:moveTo>
                    <a:pt x="0" y="0"/>
                  </a:moveTo>
                  <a:lnTo>
                    <a:pt x="15727680" y="0"/>
                  </a:lnTo>
                  <a:lnTo>
                    <a:pt x="15727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8775" b="-428775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5727680" cy="6591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BEE6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Retrieval Optimization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24712" y="3127248"/>
            <a:ext cx="10698480" cy="384048"/>
            <a:chOff x="0" y="0"/>
            <a:chExt cx="14264640" cy="5120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264639" cy="512064"/>
            </a:xfrm>
            <a:custGeom>
              <a:avLst/>
              <a:gdLst/>
              <a:ahLst/>
              <a:cxnLst/>
              <a:rect l="l" t="t" r="r" b="b"/>
              <a:pathLst>
                <a:path w="14264639" h="512064">
                  <a:moveTo>
                    <a:pt x="0" y="0"/>
                  </a:moveTo>
                  <a:lnTo>
                    <a:pt x="14264639" y="0"/>
                  </a:lnTo>
                  <a:lnTo>
                    <a:pt x="14264639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2797" b="-492797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426464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96"/>
                </a:lnSpc>
              </a:pPr>
              <a:r>
                <a:rPr lang="en-US" sz="1830">
                  <a:solidFill>
                    <a:srgbClr val="DDEBFF"/>
                  </a:solidFill>
                  <a:latin typeface="Arial"/>
                  <a:ea typeface="Arial"/>
                  <a:cs typeface="Arial"/>
                  <a:sym typeface="Arial"/>
                </a:rPr>
                <a:t>AI Clinical Decision Support Lite Hackathon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51394" y="5544503"/>
            <a:ext cx="3724275" cy="1255395"/>
            <a:chOff x="0" y="0"/>
            <a:chExt cx="4965700" cy="16738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65700" cy="1673733"/>
            </a:xfrm>
            <a:custGeom>
              <a:avLst/>
              <a:gdLst/>
              <a:ahLst/>
              <a:cxnLst/>
              <a:rect l="l" t="t" r="r" b="b"/>
              <a:pathLst>
                <a:path w="4965700" h="1673733">
                  <a:moveTo>
                    <a:pt x="0" y="223139"/>
                  </a:moveTo>
                  <a:cubicBezTo>
                    <a:pt x="0" y="99949"/>
                    <a:pt x="99949" y="0"/>
                    <a:pt x="223139" y="0"/>
                  </a:cubicBezTo>
                  <a:lnTo>
                    <a:pt x="4742561" y="0"/>
                  </a:lnTo>
                  <a:cubicBezTo>
                    <a:pt x="4865751" y="0"/>
                    <a:pt x="4965700" y="99949"/>
                    <a:pt x="4965700" y="223139"/>
                  </a:cubicBezTo>
                  <a:lnTo>
                    <a:pt x="4965700" y="1450594"/>
                  </a:lnTo>
                  <a:cubicBezTo>
                    <a:pt x="4965700" y="1573911"/>
                    <a:pt x="4865751" y="1673733"/>
                    <a:pt x="4742561" y="1673733"/>
                  </a:cubicBezTo>
                  <a:lnTo>
                    <a:pt x="223139" y="1673733"/>
                  </a:lnTo>
                  <a:cubicBezTo>
                    <a:pt x="99949" y="1673860"/>
                    <a:pt x="0" y="1573911"/>
                    <a:pt x="0" y="1450721"/>
                  </a:cubicBezTo>
                  <a:close/>
                </a:path>
              </a:pathLst>
            </a:custGeom>
            <a:solidFill>
              <a:srgbClr val="163B59"/>
            </a:solidFill>
            <a:ln w="20955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440180" y="5705856"/>
            <a:ext cx="3346704" cy="987552"/>
            <a:chOff x="0" y="0"/>
            <a:chExt cx="4462272" cy="131673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62272" cy="1316736"/>
            </a:xfrm>
            <a:custGeom>
              <a:avLst/>
              <a:gdLst/>
              <a:ahLst/>
              <a:cxnLst/>
              <a:rect l="l" t="t" r="r" b="b"/>
              <a:pathLst>
                <a:path w="4462272" h="1316736">
                  <a:moveTo>
                    <a:pt x="0" y="0"/>
                  </a:moveTo>
                  <a:lnTo>
                    <a:pt x="4462272" y="0"/>
                  </a:lnTo>
                  <a:lnTo>
                    <a:pt x="4462272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32" b="-16032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462272" cy="1335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Inspect</a:t>
              </a:r>
            </a:p>
            <a:p>
              <a:pPr algn="ctr">
                <a:lnSpc>
                  <a:spcPts val="2700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retrieval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585650" y="5544503"/>
            <a:ext cx="3724275" cy="1255395"/>
            <a:chOff x="0" y="0"/>
            <a:chExt cx="4965700" cy="16738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65700" cy="1673733"/>
            </a:xfrm>
            <a:custGeom>
              <a:avLst/>
              <a:gdLst/>
              <a:ahLst/>
              <a:cxnLst/>
              <a:rect l="l" t="t" r="r" b="b"/>
              <a:pathLst>
                <a:path w="4965700" h="1673733">
                  <a:moveTo>
                    <a:pt x="0" y="223139"/>
                  </a:moveTo>
                  <a:cubicBezTo>
                    <a:pt x="0" y="99949"/>
                    <a:pt x="99949" y="0"/>
                    <a:pt x="223139" y="0"/>
                  </a:cubicBezTo>
                  <a:lnTo>
                    <a:pt x="4742561" y="0"/>
                  </a:lnTo>
                  <a:cubicBezTo>
                    <a:pt x="4865751" y="0"/>
                    <a:pt x="4965700" y="99949"/>
                    <a:pt x="4965700" y="223139"/>
                  </a:cubicBezTo>
                  <a:lnTo>
                    <a:pt x="4965700" y="1450594"/>
                  </a:lnTo>
                  <a:cubicBezTo>
                    <a:pt x="4965700" y="1573911"/>
                    <a:pt x="4865751" y="1673733"/>
                    <a:pt x="4742561" y="1673733"/>
                  </a:cubicBezTo>
                  <a:lnTo>
                    <a:pt x="223139" y="1673733"/>
                  </a:lnTo>
                  <a:cubicBezTo>
                    <a:pt x="99949" y="1673860"/>
                    <a:pt x="0" y="1573911"/>
                    <a:pt x="0" y="1450721"/>
                  </a:cubicBezTo>
                  <a:close/>
                </a:path>
              </a:pathLst>
            </a:custGeom>
            <a:solidFill>
              <a:srgbClr val="163B59"/>
            </a:solidFill>
            <a:ln w="20955" cap="sq">
              <a:solidFill>
                <a:srgbClr val="2F80ED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74436" y="5705856"/>
            <a:ext cx="3346704" cy="987552"/>
            <a:chOff x="0" y="0"/>
            <a:chExt cx="4462272" cy="131673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462272" cy="1316736"/>
            </a:xfrm>
            <a:custGeom>
              <a:avLst/>
              <a:gdLst/>
              <a:ahLst/>
              <a:cxnLst/>
              <a:rect l="l" t="t" r="r" b="b"/>
              <a:pathLst>
                <a:path w="4462272" h="1316736">
                  <a:moveTo>
                    <a:pt x="0" y="0"/>
                  </a:moveTo>
                  <a:lnTo>
                    <a:pt x="4462272" y="0"/>
                  </a:lnTo>
                  <a:lnTo>
                    <a:pt x="4462272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32" b="-16032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4462272" cy="1335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Tune</a:t>
              </a:r>
            </a:p>
            <a:p>
              <a:pPr algn="ctr">
                <a:lnSpc>
                  <a:spcPts val="2700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Top-K + chunks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19906" y="5544503"/>
            <a:ext cx="3724275" cy="1255395"/>
            <a:chOff x="0" y="0"/>
            <a:chExt cx="4965700" cy="16738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965700" cy="1673733"/>
            </a:xfrm>
            <a:custGeom>
              <a:avLst/>
              <a:gdLst/>
              <a:ahLst/>
              <a:cxnLst/>
              <a:rect l="l" t="t" r="r" b="b"/>
              <a:pathLst>
                <a:path w="4965700" h="1673733">
                  <a:moveTo>
                    <a:pt x="0" y="223139"/>
                  </a:moveTo>
                  <a:cubicBezTo>
                    <a:pt x="0" y="99949"/>
                    <a:pt x="99949" y="0"/>
                    <a:pt x="223139" y="0"/>
                  </a:cubicBezTo>
                  <a:lnTo>
                    <a:pt x="4742561" y="0"/>
                  </a:lnTo>
                  <a:cubicBezTo>
                    <a:pt x="4865751" y="0"/>
                    <a:pt x="4965700" y="99949"/>
                    <a:pt x="4965700" y="223139"/>
                  </a:cubicBezTo>
                  <a:lnTo>
                    <a:pt x="4965700" y="1450594"/>
                  </a:lnTo>
                  <a:cubicBezTo>
                    <a:pt x="4965700" y="1573911"/>
                    <a:pt x="4865751" y="1673733"/>
                    <a:pt x="4742561" y="1673733"/>
                  </a:cubicBezTo>
                  <a:lnTo>
                    <a:pt x="223139" y="1673733"/>
                  </a:lnTo>
                  <a:cubicBezTo>
                    <a:pt x="99949" y="1673860"/>
                    <a:pt x="0" y="1573911"/>
                    <a:pt x="0" y="1450721"/>
                  </a:cubicBezTo>
                  <a:close/>
                </a:path>
              </a:pathLst>
            </a:custGeom>
            <a:solidFill>
              <a:srgbClr val="163B59"/>
            </a:solidFill>
            <a:ln w="20955" cap="sq">
              <a:solidFill>
                <a:srgbClr val="5FB49C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0108692" y="5705856"/>
            <a:ext cx="3346704" cy="987552"/>
            <a:chOff x="0" y="0"/>
            <a:chExt cx="4462272" cy="131673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462272" cy="1316736"/>
            </a:xfrm>
            <a:custGeom>
              <a:avLst/>
              <a:gdLst/>
              <a:ahLst/>
              <a:cxnLst/>
              <a:rect l="l" t="t" r="r" b="b"/>
              <a:pathLst>
                <a:path w="4462272" h="1316736">
                  <a:moveTo>
                    <a:pt x="0" y="0"/>
                  </a:moveTo>
                  <a:lnTo>
                    <a:pt x="4462272" y="0"/>
                  </a:lnTo>
                  <a:lnTo>
                    <a:pt x="4462272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32" b="-16032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4462272" cy="1335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800" b="1" dirty="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Measure</a:t>
              </a:r>
            </a:p>
            <a:p>
              <a:pPr algn="ctr">
                <a:lnSpc>
                  <a:spcPts val="2700"/>
                </a:lnSpc>
              </a:pPr>
              <a:r>
                <a:rPr lang="en-US" sz="2800" b="1" dirty="0" err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Precision@K</a:t>
              </a:r>
              <a:endParaRPr lang="en-US" sz="28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sp>
        <p:nvSpPr>
          <p:cNvPr id="27" name="AutoShape 27"/>
          <p:cNvSpPr/>
          <p:nvPr/>
        </p:nvSpPr>
        <p:spPr>
          <a:xfrm rot="267420">
            <a:off x="5129651" y="6167438"/>
            <a:ext cx="343176" cy="0"/>
          </a:xfrm>
          <a:prstGeom prst="line">
            <a:avLst/>
          </a:prstGeom>
          <a:ln w="9525" cap="rnd">
            <a:solidFill>
              <a:srgbClr val="BEE6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8" name="AutoShape 28"/>
          <p:cNvSpPr/>
          <p:nvPr/>
        </p:nvSpPr>
        <p:spPr>
          <a:xfrm rot="267420">
            <a:off x="9463907" y="6167438"/>
            <a:ext cx="343176" cy="0"/>
          </a:xfrm>
          <a:prstGeom prst="line">
            <a:avLst/>
          </a:prstGeom>
          <a:ln w="9525" cap="rnd">
            <a:solidFill>
              <a:srgbClr val="BEE6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9" name="Group 29"/>
          <p:cNvGrpSpPr/>
          <p:nvPr/>
        </p:nvGrpSpPr>
        <p:grpSpPr>
          <a:xfrm>
            <a:off x="1124712" y="9079992"/>
            <a:ext cx="12070080" cy="301752"/>
            <a:chOff x="0" y="0"/>
            <a:chExt cx="16093440" cy="40233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093439" cy="402336"/>
            </a:xfrm>
            <a:custGeom>
              <a:avLst/>
              <a:gdLst/>
              <a:ahLst/>
              <a:cxnLst/>
              <a:rect l="l" t="t" r="r" b="b"/>
              <a:pathLst>
                <a:path w="16093439" h="402336">
                  <a:moveTo>
                    <a:pt x="0" y="0"/>
                  </a:moveTo>
                  <a:lnTo>
                    <a:pt x="16093439" y="0"/>
                  </a:lnTo>
                  <a:lnTo>
                    <a:pt x="160934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9401" b="-729401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16093440" cy="411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DEBFF"/>
                  </a:solidFill>
                  <a:latin typeface="Arial"/>
                  <a:ea typeface="Arial"/>
                  <a:cs typeface="Arial"/>
                  <a:sym typeface="Arial"/>
                </a:rPr>
                <a:t>What students will learn and execute during Day 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42416" y="9710928"/>
            <a:ext cx="5486400" cy="219456"/>
            <a:chOff x="0" y="0"/>
            <a:chExt cx="7315200" cy="29260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315200" cy="292608"/>
            </a:xfrm>
            <a:custGeom>
              <a:avLst/>
              <a:gdLst/>
              <a:ahLst/>
              <a:cxnLst/>
              <a:rect l="l" t="t" r="r" b="b"/>
              <a:pathLst>
                <a:path w="7315200" h="292608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731520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4"/>
                </a:lnSpc>
              </a:pPr>
              <a:r>
                <a:rPr lang="en-US" sz="117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AI Clinical Decision Support Lite Hackathon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6527780" y="9642348"/>
            <a:ext cx="685800" cy="246888"/>
            <a:chOff x="0" y="0"/>
            <a:chExt cx="914400" cy="32918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" cy="329184"/>
            </a:xfrm>
            <a:custGeom>
              <a:avLst/>
              <a:gdLst/>
              <a:ahLst/>
              <a:cxnLst/>
              <a:rect l="l" t="t" r="r" b="b"/>
              <a:pathLst>
                <a:path w="914400" h="329184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75"/>
                </a:lnSpc>
              </a:pPr>
              <a:r>
                <a:rPr lang="en-US" sz="1230" b="1">
                  <a:solidFill>
                    <a:srgbClr val="5C6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247960">
            <a:off x="382276" y="849820"/>
            <a:ext cx="1292857" cy="0"/>
          </a:xfrm>
          <a:prstGeom prst="line">
            <a:avLst/>
          </a:prstGeom>
          <a:ln w="28575" cap="rnd">
            <a:solidFill>
              <a:srgbClr val="15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576072"/>
            <a:ext cx="13441680" cy="617220"/>
            <a:chOff x="0" y="0"/>
            <a:chExt cx="17922240" cy="822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Today’s learning objectives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6736" y="1234440"/>
            <a:ext cx="12618720" cy="384048"/>
            <a:chOff x="0" y="0"/>
            <a:chExt cx="16824960" cy="512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24961" cy="512064"/>
            </a:xfrm>
            <a:custGeom>
              <a:avLst/>
              <a:gdLst/>
              <a:ahLst/>
              <a:cxnLst/>
              <a:rect l="l" t="t" r="r" b="b"/>
              <a:pathLst>
                <a:path w="16824961" h="512064">
                  <a:moveTo>
                    <a:pt x="0" y="0"/>
                  </a:moveTo>
                  <a:lnTo>
                    <a:pt x="16824961" y="0"/>
                  </a:lnTo>
                  <a:lnTo>
                    <a:pt x="168249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682496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Students should leave this session with a measurable retrieval baseline.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2820">
            <a:off x="1022032" y="1682306"/>
            <a:ext cx="16266805" cy="0"/>
          </a:xfrm>
          <a:prstGeom prst="line">
            <a:avLst/>
          </a:prstGeom>
          <a:ln w="9525" cap="rnd">
            <a:solidFill>
              <a:srgbClr val="D8DE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170051" y="2116455"/>
            <a:ext cx="4888230" cy="6259830"/>
            <a:chOff x="0" y="0"/>
            <a:chExt cx="6517640" cy="83464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517640" cy="8346439"/>
            </a:xfrm>
            <a:custGeom>
              <a:avLst/>
              <a:gdLst/>
              <a:ahLst/>
              <a:cxnLst/>
              <a:rect l="l" t="t" r="r" b="b"/>
              <a:pathLst>
                <a:path w="6517640" h="8346439">
                  <a:moveTo>
                    <a:pt x="0" y="238633"/>
                  </a:moveTo>
                  <a:cubicBezTo>
                    <a:pt x="0" y="106807"/>
                    <a:pt x="106807" y="0"/>
                    <a:pt x="238633" y="0"/>
                  </a:cubicBezTo>
                  <a:lnTo>
                    <a:pt x="6279007" y="0"/>
                  </a:lnTo>
                  <a:cubicBezTo>
                    <a:pt x="6410833" y="0"/>
                    <a:pt x="6517640" y="106807"/>
                    <a:pt x="6517640" y="238633"/>
                  </a:cubicBezTo>
                  <a:lnTo>
                    <a:pt x="6517640" y="8107807"/>
                  </a:lnTo>
                  <a:cubicBezTo>
                    <a:pt x="6517640" y="8239633"/>
                    <a:pt x="6410833" y="8346439"/>
                    <a:pt x="6279007" y="8346439"/>
                  </a:cubicBezTo>
                  <a:lnTo>
                    <a:pt x="238633" y="8346439"/>
                  </a:lnTo>
                  <a:cubicBezTo>
                    <a:pt x="106807" y="8346440"/>
                    <a:pt x="0" y="8239633"/>
                    <a:pt x="0" y="8107807"/>
                  </a:cubicBezTo>
                  <a:close/>
                </a:path>
              </a:pathLst>
            </a:custGeom>
            <a:solidFill>
              <a:srgbClr val="EAF3FF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426464" y="2331720"/>
            <a:ext cx="4375404" cy="329184"/>
            <a:chOff x="0" y="0"/>
            <a:chExt cx="5833872" cy="4389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833872" cy="438912"/>
            </a:xfrm>
            <a:custGeom>
              <a:avLst/>
              <a:gdLst/>
              <a:ahLst/>
              <a:cxnLst/>
              <a:rect l="l" t="t" r="r" b="b"/>
              <a:pathLst>
                <a:path w="5833872" h="438912">
                  <a:moveTo>
                    <a:pt x="0" y="0"/>
                  </a:moveTo>
                  <a:lnTo>
                    <a:pt x="5833872" y="0"/>
                  </a:lnTo>
                  <a:lnTo>
                    <a:pt x="583387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988" b="-208988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583387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Conceptual goal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26721" y="2847851"/>
            <a:ext cx="4374899" cy="5354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Understand that the retrieval layer decides what evidence the LLM is allowed to see. Bad retrieval produces unsafe or unsupported answers.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697599" y="2116455"/>
            <a:ext cx="4888230" cy="6259830"/>
            <a:chOff x="0" y="0"/>
            <a:chExt cx="6517640" cy="83464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517640" cy="8346439"/>
            </a:xfrm>
            <a:custGeom>
              <a:avLst/>
              <a:gdLst/>
              <a:ahLst/>
              <a:cxnLst/>
              <a:rect l="l" t="t" r="r" b="b"/>
              <a:pathLst>
                <a:path w="6517640" h="8346439">
                  <a:moveTo>
                    <a:pt x="0" y="238633"/>
                  </a:moveTo>
                  <a:cubicBezTo>
                    <a:pt x="0" y="106807"/>
                    <a:pt x="106807" y="0"/>
                    <a:pt x="238633" y="0"/>
                  </a:cubicBezTo>
                  <a:lnTo>
                    <a:pt x="6279007" y="0"/>
                  </a:lnTo>
                  <a:cubicBezTo>
                    <a:pt x="6410833" y="0"/>
                    <a:pt x="6517640" y="106807"/>
                    <a:pt x="6517640" y="238633"/>
                  </a:cubicBezTo>
                  <a:lnTo>
                    <a:pt x="6517640" y="8107807"/>
                  </a:lnTo>
                  <a:cubicBezTo>
                    <a:pt x="6517640" y="8239633"/>
                    <a:pt x="6410833" y="8346439"/>
                    <a:pt x="6279007" y="8346439"/>
                  </a:cubicBezTo>
                  <a:lnTo>
                    <a:pt x="238633" y="8346439"/>
                  </a:lnTo>
                  <a:cubicBezTo>
                    <a:pt x="106807" y="8346440"/>
                    <a:pt x="0" y="8239633"/>
                    <a:pt x="0" y="8107807"/>
                  </a:cubicBezTo>
                  <a:close/>
                </a:path>
              </a:pathLst>
            </a:custGeom>
            <a:solidFill>
              <a:srgbClr val="EAFBF7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954012" y="2331720"/>
            <a:ext cx="4375404" cy="329184"/>
            <a:chOff x="0" y="0"/>
            <a:chExt cx="5833872" cy="4389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33872" cy="438912"/>
            </a:xfrm>
            <a:custGeom>
              <a:avLst/>
              <a:gdLst/>
              <a:ahLst/>
              <a:cxnLst/>
              <a:rect l="l" t="t" r="r" b="b"/>
              <a:pathLst>
                <a:path w="5833872" h="438912">
                  <a:moveTo>
                    <a:pt x="0" y="0"/>
                  </a:moveTo>
                  <a:lnTo>
                    <a:pt x="5833872" y="0"/>
                  </a:lnTo>
                  <a:lnTo>
                    <a:pt x="583387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988" b="-208988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583387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Technical goal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954269" y="2847851"/>
            <a:ext cx="4374899" cy="5354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Implement top-k semantic search, inspect retrieved chunks, tune chunk size and overlap, log scores, and optionally add hybrid search or reranking.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211431" y="2116455"/>
            <a:ext cx="4380738" cy="6259830"/>
            <a:chOff x="0" y="0"/>
            <a:chExt cx="5840984" cy="83464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840984" cy="8346440"/>
            </a:xfrm>
            <a:custGeom>
              <a:avLst/>
              <a:gdLst/>
              <a:ahLst/>
              <a:cxnLst/>
              <a:rect l="l" t="t" r="r" b="b"/>
              <a:pathLst>
                <a:path w="5840984" h="8346440">
                  <a:moveTo>
                    <a:pt x="0" y="238760"/>
                  </a:moveTo>
                  <a:cubicBezTo>
                    <a:pt x="0" y="106934"/>
                    <a:pt x="106934" y="0"/>
                    <a:pt x="238760" y="0"/>
                  </a:cubicBezTo>
                  <a:lnTo>
                    <a:pt x="5602224" y="0"/>
                  </a:lnTo>
                  <a:cubicBezTo>
                    <a:pt x="5734050" y="0"/>
                    <a:pt x="5840984" y="106934"/>
                    <a:pt x="5840984" y="238760"/>
                  </a:cubicBezTo>
                  <a:lnTo>
                    <a:pt x="5840984" y="8107680"/>
                  </a:lnTo>
                  <a:cubicBezTo>
                    <a:pt x="5840984" y="8239506"/>
                    <a:pt x="5734050" y="8346440"/>
                    <a:pt x="5602224" y="8346440"/>
                  </a:cubicBezTo>
                  <a:lnTo>
                    <a:pt x="238760" y="8346440"/>
                  </a:lnTo>
                  <a:cubicBezTo>
                    <a:pt x="106934" y="8346440"/>
                    <a:pt x="0" y="8239506"/>
                    <a:pt x="0" y="8107680"/>
                  </a:cubicBezTo>
                  <a:close/>
                </a:path>
              </a:pathLst>
            </a:custGeom>
            <a:solidFill>
              <a:srgbClr val="FFF2D8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467844" y="2331720"/>
            <a:ext cx="3867912" cy="329184"/>
            <a:chOff x="0" y="0"/>
            <a:chExt cx="5157216" cy="4389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157216" cy="438912"/>
            </a:xfrm>
            <a:custGeom>
              <a:avLst/>
              <a:gdLst/>
              <a:ahLst/>
              <a:cxnLst/>
              <a:rect l="l" t="t" r="r" b="b"/>
              <a:pathLst>
                <a:path w="5157216" h="438912">
                  <a:moveTo>
                    <a:pt x="0" y="0"/>
                  </a:moveTo>
                  <a:lnTo>
                    <a:pt x="5157216" y="0"/>
                  </a:lnTo>
                  <a:lnTo>
                    <a:pt x="515721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949" b="-178949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5157216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Execution goal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468101" y="2847851"/>
            <a:ext cx="3867407" cy="5354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Run a small evaluation set, calculate Precision@K, and identify where retrieval fails before moving to generation.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42416" y="9710928"/>
            <a:ext cx="5486400" cy="219456"/>
            <a:chOff x="0" y="0"/>
            <a:chExt cx="7315200" cy="29260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315200" cy="292608"/>
            </a:xfrm>
            <a:custGeom>
              <a:avLst/>
              <a:gdLst/>
              <a:ahLst/>
              <a:cxnLst/>
              <a:rect l="l" t="t" r="r" b="b"/>
              <a:pathLst>
                <a:path w="7315200" h="292608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731520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4"/>
                </a:lnSpc>
              </a:pPr>
              <a:r>
                <a:rPr lang="en-US" sz="117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AI Clinical Decision Support Lite Hackathon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527780" y="9642348"/>
            <a:ext cx="685800" cy="246888"/>
            <a:chOff x="0" y="0"/>
            <a:chExt cx="914400" cy="32918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4400" cy="329184"/>
            </a:xfrm>
            <a:custGeom>
              <a:avLst/>
              <a:gdLst/>
              <a:ahLst/>
              <a:cxnLst/>
              <a:rect l="l" t="t" r="r" b="b"/>
              <a:pathLst>
                <a:path w="914400" h="329184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75"/>
                </a:lnSpc>
              </a:pPr>
              <a:r>
                <a:rPr lang="en-US" sz="1230" b="1">
                  <a:solidFill>
                    <a:srgbClr val="5C6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pic>
        <p:nvPicPr>
          <p:cNvPr id="37" name="Google Shape;90;p1">
            <a:extLst>
              <a:ext uri="{FF2B5EF4-FFF2-40B4-BE49-F238E27FC236}">
                <a16:creationId xmlns:a16="http://schemas.microsoft.com/office/drawing/2014/main" id="{0EC169B8-8F6D-48A2-97DA-52E70C3442ED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06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247960">
            <a:off x="382276" y="849820"/>
            <a:ext cx="1292857" cy="0"/>
          </a:xfrm>
          <a:prstGeom prst="line">
            <a:avLst/>
          </a:prstGeom>
          <a:ln w="28575" cap="rnd">
            <a:solidFill>
              <a:srgbClr val="15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576072"/>
            <a:ext cx="13441680" cy="617220"/>
            <a:chOff x="0" y="0"/>
            <a:chExt cx="17922240" cy="822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Day 1 handoff check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6736" y="1234440"/>
            <a:ext cx="12618720" cy="384048"/>
            <a:chOff x="0" y="0"/>
            <a:chExt cx="16824960" cy="512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24961" cy="512064"/>
            </a:xfrm>
            <a:custGeom>
              <a:avLst/>
              <a:gdLst/>
              <a:ahLst/>
              <a:cxnLst/>
              <a:rect l="l" t="t" r="r" b="b"/>
              <a:pathLst>
                <a:path w="16824961" h="512064">
                  <a:moveTo>
                    <a:pt x="0" y="0"/>
                  </a:moveTo>
                  <a:lnTo>
                    <a:pt x="16824961" y="0"/>
                  </a:lnTo>
                  <a:lnTo>
                    <a:pt x="168249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682496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Before optimization, verify that the knowledge base is ready to search.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2820">
            <a:off x="1022032" y="1682306"/>
            <a:ext cx="16266805" cy="0"/>
          </a:xfrm>
          <a:prstGeom prst="line">
            <a:avLst/>
          </a:prstGeom>
          <a:ln w="9525" cap="rnd">
            <a:solidFill>
              <a:srgbClr val="D8DE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156335" y="2116455"/>
            <a:ext cx="4751070" cy="5711190"/>
            <a:chOff x="0" y="0"/>
            <a:chExt cx="6334760" cy="76149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34760" cy="7614920"/>
            </a:xfrm>
            <a:custGeom>
              <a:avLst/>
              <a:gdLst/>
              <a:ahLst/>
              <a:cxnLst/>
              <a:rect l="l" t="t" r="r" b="b"/>
              <a:pathLst>
                <a:path w="6334760" h="7614920">
                  <a:moveTo>
                    <a:pt x="0" y="238633"/>
                  </a:moveTo>
                  <a:cubicBezTo>
                    <a:pt x="0" y="106807"/>
                    <a:pt x="106807" y="0"/>
                    <a:pt x="238633" y="0"/>
                  </a:cubicBezTo>
                  <a:lnTo>
                    <a:pt x="6096127" y="0"/>
                  </a:lnTo>
                  <a:cubicBezTo>
                    <a:pt x="6227953" y="0"/>
                    <a:pt x="6334760" y="106807"/>
                    <a:pt x="6334760" y="238633"/>
                  </a:cubicBezTo>
                  <a:lnTo>
                    <a:pt x="6334760" y="7376287"/>
                  </a:lnTo>
                  <a:cubicBezTo>
                    <a:pt x="6334760" y="7508113"/>
                    <a:pt x="6227953" y="7614920"/>
                    <a:pt x="6096127" y="7614920"/>
                  </a:cubicBezTo>
                  <a:lnTo>
                    <a:pt x="238633" y="7614920"/>
                  </a:lnTo>
                  <a:cubicBezTo>
                    <a:pt x="106807" y="7614920"/>
                    <a:pt x="0" y="7508113"/>
                    <a:pt x="0" y="7376287"/>
                  </a:cubicBezTo>
                  <a:close/>
                </a:path>
              </a:pathLst>
            </a:custGeom>
            <a:solidFill>
              <a:srgbClr val="EAF3FF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412748" y="2331720"/>
            <a:ext cx="4238244" cy="329184"/>
            <a:chOff x="0" y="0"/>
            <a:chExt cx="5650992" cy="4389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50992" cy="438912"/>
            </a:xfrm>
            <a:custGeom>
              <a:avLst/>
              <a:gdLst/>
              <a:ahLst/>
              <a:cxnLst/>
              <a:rect l="l" t="t" r="r" b="b"/>
              <a:pathLst>
                <a:path w="5650992" h="438912">
                  <a:moveTo>
                    <a:pt x="0" y="0"/>
                  </a:moveTo>
                  <a:lnTo>
                    <a:pt x="5650992" y="0"/>
                  </a:lnTo>
                  <a:lnTo>
                    <a:pt x="565099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869" b="-200869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565099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Required inputs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13005" y="2847851"/>
            <a:ext cx="4237739" cy="4805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1–2 official guideline PDFs.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Clean text extraction.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Section-aware chunks.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Embeddings generated.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Metadata stored with every chunk.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738747" y="2116455"/>
            <a:ext cx="4751070" cy="5711190"/>
            <a:chOff x="0" y="0"/>
            <a:chExt cx="6334760" cy="76149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34760" cy="7614920"/>
            </a:xfrm>
            <a:custGeom>
              <a:avLst/>
              <a:gdLst/>
              <a:ahLst/>
              <a:cxnLst/>
              <a:rect l="l" t="t" r="r" b="b"/>
              <a:pathLst>
                <a:path w="6334760" h="7614920">
                  <a:moveTo>
                    <a:pt x="0" y="238633"/>
                  </a:moveTo>
                  <a:cubicBezTo>
                    <a:pt x="0" y="106807"/>
                    <a:pt x="106807" y="0"/>
                    <a:pt x="238633" y="0"/>
                  </a:cubicBezTo>
                  <a:lnTo>
                    <a:pt x="6096127" y="0"/>
                  </a:lnTo>
                  <a:cubicBezTo>
                    <a:pt x="6227953" y="0"/>
                    <a:pt x="6334760" y="106807"/>
                    <a:pt x="6334760" y="238633"/>
                  </a:cubicBezTo>
                  <a:lnTo>
                    <a:pt x="6334760" y="7376287"/>
                  </a:lnTo>
                  <a:cubicBezTo>
                    <a:pt x="6334760" y="7508113"/>
                    <a:pt x="6227953" y="7614920"/>
                    <a:pt x="6096127" y="7614920"/>
                  </a:cubicBezTo>
                  <a:lnTo>
                    <a:pt x="238633" y="7614920"/>
                  </a:lnTo>
                  <a:cubicBezTo>
                    <a:pt x="106807" y="7614920"/>
                    <a:pt x="0" y="7508113"/>
                    <a:pt x="0" y="7376287"/>
                  </a:cubicBezTo>
                  <a:close/>
                </a:path>
              </a:pathLst>
            </a:custGeom>
            <a:solidFill>
              <a:srgbClr val="EAFBF7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995160" y="2331720"/>
            <a:ext cx="4238244" cy="329184"/>
            <a:chOff x="0" y="0"/>
            <a:chExt cx="5650992" cy="4389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50992" cy="438912"/>
            </a:xfrm>
            <a:custGeom>
              <a:avLst/>
              <a:gdLst/>
              <a:ahLst/>
              <a:cxnLst/>
              <a:rect l="l" t="t" r="r" b="b"/>
              <a:pathLst>
                <a:path w="5650992" h="438912">
                  <a:moveTo>
                    <a:pt x="0" y="0"/>
                  </a:moveTo>
                  <a:lnTo>
                    <a:pt x="5650992" y="0"/>
                  </a:lnTo>
                  <a:lnTo>
                    <a:pt x="565099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869" b="-200869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565099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Readiness test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995417" y="2847851"/>
            <a:ext cx="4237739" cy="4805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Run 5 clinical questions and display: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chunk text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document name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page number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section title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similarity score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307443" y="2116455"/>
            <a:ext cx="4271010" cy="5711190"/>
            <a:chOff x="0" y="0"/>
            <a:chExt cx="5694680" cy="76149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694680" cy="7614920"/>
            </a:xfrm>
            <a:custGeom>
              <a:avLst/>
              <a:gdLst/>
              <a:ahLst/>
              <a:cxnLst/>
              <a:rect l="l" t="t" r="r" b="b"/>
              <a:pathLst>
                <a:path w="5694680" h="7614920">
                  <a:moveTo>
                    <a:pt x="0" y="238887"/>
                  </a:moveTo>
                  <a:cubicBezTo>
                    <a:pt x="0" y="106934"/>
                    <a:pt x="106934" y="0"/>
                    <a:pt x="238887" y="0"/>
                  </a:cubicBezTo>
                  <a:lnTo>
                    <a:pt x="5455793" y="0"/>
                  </a:lnTo>
                  <a:cubicBezTo>
                    <a:pt x="5587746" y="0"/>
                    <a:pt x="5694680" y="106934"/>
                    <a:pt x="5694680" y="238887"/>
                  </a:cubicBezTo>
                  <a:lnTo>
                    <a:pt x="5694680" y="7376033"/>
                  </a:lnTo>
                  <a:cubicBezTo>
                    <a:pt x="5694680" y="7507986"/>
                    <a:pt x="5587746" y="7614920"/>
                    <a:pt x="5455793" y="7614920"/>
                  </a:cubicBezTo>
                  <a:lnTo>
                    <a:pt x="238887" y="7614920"/>
                  </a:lnTo>
                  <a:cubicBezTo>
                    <a:pt x="106934" y="7614920"/>
                    <a:pt x="0" y="7507986"/>
                    <a:pt x="0" y="7376033"/>
                  </a:cubicBezTo>
                  <a:close/>
                </a:path>
              </a:pathLst>
            </a:custGeom>
            <a:solidFill>
              <a:srgbClr val="FDEBEC"/>
            </a:solidFill>
            <a:ln w="19050" cap="sq">
              <a:solidFill>
                <a:srgbClr val="D84C4C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563856" y="2331720"/>
            <a:ext cx="3758184" cy="329184"/>
            <a:chOff x="0" y="0"/>
            <a:chExt cx="5010912" cy="4389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010912" cy="438912"/>
            </a:xfrm>
            <a:custGeom>
              <a:avLst/>
              <a:gdLst/>
              <a:ahLst/>
              <a:cxnLst/>
              <a:rect l="l" t="t" r="r" b="b"/>
              <a:pathLst>
                <a:path w="5010912" h="438912">
                  <a:moveTo>
                    <a:pt x="0" y="0"/>
                  </a:moveTo>
                  <a:lnTo>
                    <a:pt x="5010912" y="0"/>
                  </a:lnTo>
                  <a:lnTo>
                    <a:pt x="5010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454" b="-172454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501091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If not ready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564113" y="2847851"/>
            <a:ext cx="3757679" cy="4805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Do not start prompt engineering.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Fix parsing, chunks, metadata, or indexing first.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783080" y="8435340"/>
            <a:ext cx="14401800" cy="384048"/>
            <a:chOff x="0" y="0"/>
            <a:chExt cx="19202400" cy="51206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202400" cy="512064"/>
            </a:xfrm>
            <a:custGeom>
              <a:avLst/>
              <a:gdLst/>
              <a:ahLst/>
              <a:cxnLst/>
              <a:rect l="l" t="t" r="r" b="b"/>
              <a:pathLst>
                <a:path w="19202400" h="512064">
                  <a:moveTo>
                    <a:pt x="0" y="0"/>
                  </a:moveTo>
                  <a:lnTo>
                    <a:pt x="19202400" y="0"/>
                  </a:lnTo>
                  <a:lnTo>
                    <a:pt x="19202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0688" b="-680688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1920240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Retrieval optimization only works when the index is trustworthy.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42416" y="9710928"/>
            <a:ext cx="5486400" cy="219456"/>
            <a:chOff x="0" y="0"/>
            <a:chExt cx="7315200" cy="29260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315200" cy="292608"/>
            </a:xfrm>
            <a:custGeom>
              <a:avLst/>
              <a:gdLst/>
              <a:ahLst/>
              <a:cxnLst/>
              <a:rect l="l" t="t" r="r" b="b"/>
              <a:pathLst>
                <a:path w="7315200" h="292608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731520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4"/>
                </a:lnSpc>
              </a:pPr>
              <a:r>
                <a:rPr lang="en-US" sz="117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AI Clinical Decision Support Lite Hackathon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527780" y="9642348"/>
            <a:ext cx="685800" cy="246888"/>
            <a:chOff x="0" y="0"/>
            <a:chExt cx="914400" cy="32918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14400" cy="329184"/>
            </a:xfrm>
            <a:custGeom>
              <a:avLst/>
              <a:gdLst/>
              <a:ahLst/>
              <a:cxnLst/>
              <a:rect l="l" t="t" r="r" b="b"/>
              <a:pathLst>
                <a:path w="914400" h="329184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75"/>
                </a:lnSpc>
              </a:pPr>
              <a:r>
                <a:rPr lang="en-US" sz="1230" b="1">
                  <a:solidFill>
                    <a:srgbClr val="5C6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pic>
        <p:nvPicPr>
          <p:cNvPr id="40" name="Google Shape;90;p1">
            <a:extLst>
              <a:ext uri="{FF2B5EF4-FFF2-40B4-BE49-F238E27FC236}">
                <a16:creationId xmlns:a16="http://schemas.microsoft.com/office/drawing/2014/main" id="{75EB6DBD-7D05-43C9-9063-653D0EF81066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06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247960">
            <a:off x="382276" y="849820"/>
            <a:ext cx="1292857" cy="0"/>
          </a:xfrm>
          <a:prstGeom prst="line">
            <a:avLst/>
          </a:prstGeom>
          <a:ln w="28575" cap="rnd">
            <a:solidFill>
              <a:srgbClr val="15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576072"/>
            <a:ext cx="13441680" cy="617220"/>
            <a:chOff x="0" y="0"/>
            <a:chExt cx="17922240" cy="822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Retrieval pipeline for today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6736" y="1234440"/>
            <a:ext cx="12618720" cy="384048"/>
            <a:chOff x="0" y="0"/>
            <a:chExt cx="16824960" cy="512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24961" cy="512064"/>
            </a:xfrm>
            <a:custGeom>
              <a:avLst/>
              <a:gdLst/>
              <a:ahLst/>
              <a:cxnLst/>
              <a:rect l="l" t="t" r="r" b="b"/>
              <a:pathLst>
                <a:path w="16824961" h="512064">
                  <a:moveTo>
                    <a:pt x="0" y="0"/>
                  </a:moveTo>
                  <a:lnTo>
                    <a:pt x="16824961" y="0"/>
                  </a:lnTo>
                  <a:lnTo>
                    <a:pt x="168249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682496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Build a transparent evidence selection layer before answer generation.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2820">
            <a:off x="1022032" y="1682306"/>
            <a:ext cx="16266805" cy="0"/>
          </a:xfrm>
          <a:prstGeom prst="line">
            <a:avLst/>
          </a:prstGeom>
          <a:ln w="9525" cap="rnd">
            <a:solidFill>
              <a:srgbClr val="D8DE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114234" y="2869883"/>
            <a:ext cx="2146935" cy="1255395"/>
            <a:chOff x="0" y="0"/>
            <a:chExt cx="2862580" cy="16738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62580" cy="1673733"/>
            </a:xfrm>
            <a:custGeom>
              <a:avLst/>
              <a:gdLst/>
              <a:ahLst/>
              <a:cxnLst/>
              <a:rect l="l" t="t" r="r" b="b"/>
              <a:pathLst>
                <a:path w="2862580" h="1673733">
                  <a:moveTo>
                    <a:pt x="0" y="223139"/>
                  </a:moveTo>
                  <a:cubicBezTo>
                    <a:pt x="0" y="99949"/>
                    <a:pt x="99949" y="0"/>
                    <a:pt x="223139" y="0"/>
                  </a:cubicBezTo>
                  <a:lnTo>
                    <a:pt x="2639441" y="0"/>
                  </a:lnTo>
                  <a:cubicBezTo>
                    <a:pt x="2762758" y="0"/>
                    <a:pt x="2862580" y="99949"/>
                    <a:pt x="2862580" y="223139"/>
                  </a:cubicBezTo>
                  <a:lnTo>
                    <a:pt x="2862580" y="1450594"/>
                  </a:lnTo>
                  <a:cubicBezTo>
                    <a:pt x="2862580" y="1573911"/>
                    <a:pt x="2762631" y="1673733"/>
                    <a:pt x="2639441" y="1673733"/>
                  </a:cubicBezTo>
                  <a:lnTo>
                    <a:pt x="223139" y="1673733"/>
                  </a:lnTo>
                  <a:cubicBezTo>
                    <a:pt x="99949" y="1673860"/>
                    <a:pt x="0" y="1573911"/>
                    <a:pt x="0" y="1450721"/>
                  </a:cubicBezTo>
                  <a:close/>
                </a:path>
              </a:pathLst>
            </a:custGeom>
            <a:solidFill>
              <a:srgbClr val="FFFFFF"/>
            </a:solidFill>
            <a:ln w="20955" cap="sq">
              <a:solidFill>
                <a:srgbClr val="2F80ED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303020" y="3031236"/>
            <a:ext cx="1769364" cy="987552"/>
            <a:chOff x="0" y="0"/>
            <a:chExt cx="2359152" cy="131673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9152" cy="1316736"/>
            </a:xfrm>
            <a:custGeom>
              <a:avLst/>
              <a:gdLst/>
              <a:ahLst/>
              <a:cxnLst/>
              <a:rect l="l" t="t" r="r" b="b"/>
              <a:pathLst>
                <a:path w="2359152" h="1316736">
                  <a:moveTo>
                    <a:pt x="0" y="0"/>
                  </a:moveTo>
                  <a:lnTo>
                    <a:pt x="2359152" y="0"/>
                  </a:lnTo>
                  <a:lnTo>
                    <a:pt x="2359152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611" r="-2161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359152" cy="1335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16"/>
                </a:lnSpc>
              </a:pPr>
              <a:r>
                <a:rPr lang="en-US" sz="168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Clinical</a:t>
              </a:r>
            </a:p>
            <a:p>
              <a:pPr algn="ctr">
                <a:lnSpc>
                  <a:spcPts val="2016"/>
                </a:lnSpc>
              </a:pPr>
              <a:r>
                <a:rPr lang="en-US" sz="168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Query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rot="145380">
            <a:off x="3278219" y="3492817"/>
            <a:ext cx="630736" cy="0"/>
          </a:xfrm>
          <a:prstGeom prst="line">
            <a:avLst/>
          </a:prstGeom>
          <a:ln w="9525" cap="rnd">
            <a:solidFill>
              <a:srgbClr val="5C667A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9" name="Group 19"/>
          <p:cNvGrpSpPr/>
          <p:nvPr/>
        </p:nvGrpSpPr>
        <p:grpSpPr>
          <a:xfrm>
            <a:off x="3967162" y="2869883"/>
            <a:ext cx="2146935" cy="1255395"/>
            <a:chOff x="0" y="0"/>
            <a:chExt cx="2862580" cy="16738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862580" cy="1673733"/>
            </a:xfrm>
            <a:custGeom>
              <a:avLst/>
              <a:gdLst/>
              <a:ahLst/>
              <a:cxnLst/>
              <a:rect l="l" t="t" r="r" b="b"/>
              <a:pathLst>
                <a:path w="2862580" h="1673733">
                  <a:moveTo>
                    <a:pt x="0" y="223139"/>
                  </a:moveTo>
                  <a:cubicBezTo>
                    <a:pt x="0" y="99949"/>
                    <a:pt x="99949" y="0"/>
                    <a:pt x="223139" y="0"/>
                  </a:cubicBezTo>
                  <a:lnTo>
                    <a:pt x="2639441" y="0"/>
                  </a:lnTo>
                  <a:cubicBezTo>
                    <a:pt x="2762758" y="0"/>
                    <a:pt x="2862580" y="99949"/>
                    <a:pt x="2862580" y="223139"/>
                  </a:cubicBezTo>
                  <a:lnTo>
                    <a:pt x="2862580" y="1450594"/>
                  </a:lnTo>
                  <a:cubicBezTo>
                    <a:pt x="2862580" y="1573911"/>
                    <a:pt x="2762631" y="1673733"/>
                    <a:pt x="2639441" y="1673733"/>
                  </a:cubicBezTo>
                  <a:lnTo>
                    <a:pt x="223139" y="1673733"/>
                  </a:lnTo>
                  <a:cubicBezTo>
                    <a:pt x="99949" y="1673860"/>
                    <a:pt x="0" y="1573911"/>
                    <a:pt x="0" y="1450721"/>
                  </a:cubicBezTo>
                  <a:close/>
                </a:path>
              </a:pathLst>
            </a:custGeom>
            <a:solidFill>
              <a:srgbClr val="FFFFFF"/>
            </a:solidFill>
            <a:ln w="20955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155948" y="3031236"/>
            <a:ext cx="1769364" cy="987552"/>
            <a:chOff x="0" y="0"/>
            <a:chExt cx="2359152" cy="13167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59152" cy="1316736"/>
            </a:xfrm>
            <a:custGeom>
              <a:avLst/>
              <a:gdLst/>
              <a:ahLst/>
              <a:cxnLst/>
              <a:rect l="l" t="t" r="r" b="b"/>
              <a:pathLst>
                <a:path w="2359152" h="1316736">
                  <a:moveTo>
                    <a:pt x="0" y="0"/>
                  </a:moveTo>
                  <a:lnTo>
                    <a:pt x="2359152" y="0"/>
                  </a:lnTo>
                  <a:lnTo>
                    <a:pt x="2359152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611" r="-2161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2359152" cy="1335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16"/>
                </a:lnSpc>
              </a:pPr>
              <a:r>
                <a:rPr lang="en-US" sz="168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Query</a:t>
              </a:r>
            </a:p>
            <a:p>
              <a:pPr algn="ctr">
                <a:lnSpc>
                  <a:spcPts val="2016"/>
                </a:lnSpc>
              </a:pPr>
              <a:r>
                <a:rPr lang="en-US" sz="168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Cleaning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rot="145380">
            <a:off x="6131147" y="3492817"/>
            <a:ext cx="630736" cy="0"/>
          </a:xfrm>
          <a:prstGeom prst="line">
            <a:avLst/>
          </a:prstGeom>
          <a:ln w="9525" cap="rnd">
            <a:solidFill>
              <a:srgbClr val="5C667A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5" name="Group 25"/>
          <p:cNvGrpSpPr/>
          <p:nvPr/>
        </p:nvGrpSpPr>
        <p:grpSpPr>
          <a:xfrm>
            <a:off x="6820090" y="2869883"/>
            <a:ext cx="2146935" cy="1255395"/>
            <a:chOff x="0" y="0"/>
            <a:chExt cx="2862580" cy="16738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862580" cy="1673733"/>
            </a:xfrm>
            <a:custGeom>
              <a:avLst/>
              <a:gdLst/>
              <a:ahLst/>
              <a:cxnLst/>
              <a:rect l="l" t="t" r="r" b="b"/>
              <a:pathLst>
                <a:path w="2862580" h="1673733">
                  <a:moveTo>
                    <a:pt x="0" y="223139"/>
                  </a:moveTo>
                  <a:cubicBezTo>
                    <a:pt x="0" y="99949"/>
                    <a:pt x="99949" y="0"/>
                    <a:pt x="223139" y="0"/>
                  </a:cubicBezTo>
                  <a:lnTo>
                    <a:pt x="2639441" y="0"/>
                  </a:lnTo>
                  <a:cubicBezTo>
                    <a:pt x="2762758" y="0"/>
                    <a:pt x="2862580" y="99949"/>
                    <a:pt x="2862580" y="223139"/>
                  </a:cubicBezTo>
                  <a:lnTo>
                    <a:pt x="2862580" y="1450594"/>
                  </a:lnTo>
                  <a:cubicBezTo>
                    <a:pt x="2862580" y="1573911"/>
                    <a:pt x="2762631" y="1673733"/>
                    <a:pt x="2639441" y="1673733"/>
                  </a:cubicBezTo>
                  <a:lnTo>
                    <a:pt x="223139" y="1673733"/>
                  </a:lnTo>
                  <a:cubicBezTo>
                    <a:pt x="99949" y="1673860"/>
                    <a:pt x="0" y="1573911"/>
                    <a:pt x="0" y="1450721"/>
                  </a:cubicBezTo>
                  <a:close/>
                </a:path>
              </a:pathLst>
            </a:custGeom>
            <a:solidFill>
              <a:srgbClr val="FFFFFF"/>
            </a:solidFill>
            <a:ln w="20955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008876" y="3031236"/>
            <a:ext cx="1769364" cy="987552"/>
            <a:chOff x="0" y="0"/>
            <a:chExt cx="2359152" cy="131673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359152" cy="1316736"/>
            </a:xfrm>
            <a:custGeom>
              <a:avLst/>
              <a:gdLst/>
              <a:ahLst/>
              <a:cxnLst/>
              <a:rect l="l" t="t" r="r" b="b"/>
              <a:pathLst>
                <a:path w="2359152" h="1316736">
                  <a:moveTo>
                    <a:pt x="0" y="0"/>
                  </a:moveTo>
                  <a:lnTo>
                    <a:pt x="2359152" y="0"/>
                  </a:lnTo>
                  <a:lnTo>
                    <a:pt x="2359152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611" r="-21611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2359152" cy="1335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16"/>
                </a:lnSpc>
              </a:pPr>
              <a:r>
                <a:rPr lang="en-US" sz="168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Vector</a:t>
              </a:r>
            </a:p>
            <a:p>
              <a:pPr algn="ctr">
                <a:lnSpc>
                  <a:spcPts val="2016"/>
                </a:lnSpc>
              </a:pPr>
              <a:r>
                <a:rPr lang="en-US" sz="168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Search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 rot="145380">
            <a:off x="8984075" y="3492817"/>
            <a:ext cx="630736" cy="0"/>
          </a:xfrm>
          <a:prstGeom prst="line">
            <a:avLst/>
          </a:prstGeom>
          <a:ln w="9525" cap="rnd">
            <a:solidFill>
              <a:srgbClr val="5C667A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1" name="Group 31"/>
          <p:cNvGrpSpPr/>
          <p:nvPr/>
        </p:nvGrpSpPr>
        <p:grpSpPr>
          <a:xfrm>
            <a:off x="9673018" y="2869883"/>
            <a:ext cx="2146935" cy="1255395"/>
            <a:chOff x="0" y="0"/>
            <a:chExt cx="2862580" cy="16738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862580" cy="1673733"/>
            </a:xfrm>
            <a:custGeom>
              <a:avLst/>
              <a:gdLst/>
              <a:ahLst/>
              <a:cxnLst/>
              <a:rect l="l" t="t" r="r" b="b"/>
              <a:pathLst>
                <a:path w="2862580" h="1673733">
                  <a:moveTo>
                    <a:pt x="0" y="223139"/>
                  </a:moveTo>
                  <a:cubicBezTo>
                    <a:pt x="0" y="99949"/>
                    <a:pt x="99949" y="0"/>
                    <a:pt x="223139" y="0"/>
                  </a:cubicBezTo>
                  <a:lnTo>
                    <a:pt x="2639441" y="0"/>
                  </a:lnTo>
                  <a:cubicBezTo>
                    <a:pt x="2762758" y="0"/>
                    <a:pt x="2862580" y="99949"/>
                    <a:pt x="2862580" y="223139"/>
                  </a:cubicBezTo>
                  <a:lnTo>
                    <a:pt x="2862580" y="1450594"/>
                  </a:lnTo>
                  <a:cubicBezTo>
                    <a:pt x="2862580" y="1573911"/>
                    <a:pt x="2762631" y="1673733"/>
                    <a:pt x="2639441" y="1673733"/>
                  </a:cubicBezTo>
                  <a:lnTo>
                    <a:pt x="223139" y="1673733"/>
                  </a:lnTo>
                  <a:cubicBezTo>
                    <a:pt x="99949" y="1673860"/>
                    <a:pt x="0" y="1573911"/>
                    <a:pt x="0" y="1450721"/>
                  </a:cubicBezTo>
                  <a:close/>
                </a:path>
              </a:pathLst>
            </a:custGeom>
            <a:solidFill>
              <a:srgbClr val="FFFFFF"/>
            </a:solidFill>
            <a:ln w="20955" cap="sq">
              <a:solidFill>
                <a:srgbClr val="5FB49C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9861804" y="3031236"/>
            <a:ext cx="1769364" cy="987552"/>
            <a:chOff x="0" y="0"/>
            <a:chExt cx="2359152" cy="131673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359152" cy="1316736"/>
            </a:xfrm>
            <a:custGeom>
              <a:avLst/>
              <a:gdLst/>
              <a:ahLst/>
              <a:cxnLst/>
              <a:rect l="l" t="t" r="r" b="b"/>
              <a:pathLst>
                <a:path w="2359152" h="1316736">
                  <a:moveTo>
                    <a:pt x="0" y="0"/>
                  </a:moveTo>
                  <a:lnTo>
                    <a:pt x="2359152" y="0"/>
                  </a:lnTo>
                  <a:lnTo>
                    <a:pt x="2359152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611" r="-21611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2359152" cy="1335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16"/>
                </a:lnSpc>
              </a:pPr>
              <a:r>
                <a:rPr lang="en-US" sz="168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Top-K</a:t>
              </a:r>
            </a:p>
            <a:p>
              <a:pPr algn="ctr">
                <a:lnSpc>
                  <a:spcPts val="2016"/>
                </a:lnSpc>
              </a:pPr>
              <a:r>
                <a:rPr lang="en-US" sz="168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Chunks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 rot="145380">
            <a:off x="11837003" y="3492817"/>
            <a:ext cx="630736" cy="0"/>
          </a:xfrm>
          <a:prstGeom prst="line">
            <a:avLst/>
          </a:prstGeom>
          <a:ln w="9525" cap="rnd">
            <a:solidFill>
              <a:srgbClr val="5C667A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7" name="Group 37"/>
          <p:cNvGrpSpPr/>
          <p:nvPr/>
        </p:nvGrpSpPr>
        <p:grpSpPr>
          <a:xfrm>
            <a:off x="12525946" y="2869883"/>
            <a:ext cx="2146935" cy="1255395"/>
            <a:chOff x="0" y="0"/>
            <a:chExt cx="2862580" cy="167386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862580" cy="1673733"/>
            </a:xfrm>
            <a:custGeom>
              <a:avLst/>
              <a:gdLst/>
              <a:ahLst/>
              <a:cxnLst/>
              <a:rect l="l" t="t" r="r" b="b"/>
              <a:pathLst>
                <a:path w="2862580" h="1673733">
                  <a:moveTo>
                    <a:pt x="0" y="223139"/>
                  </a:moveTo>
                  <a:cubicBezTo>
                    <a:pt x="0" y="99949"/>
                    <a:pt x="99949" y="0"/>
                    <a:pt x="223139" y="0"/>
                  </a:cubicBezTo>
                  <a:lnTo>
                    <a:pt x="2639441" y="0"/>
                  </a:lnTo>
                  <a:cubicBezTo>
                    <a:pt x="2762758" y="0"/>
                    <a:pt x="2862580" y="99949"/>
                    <a:pt x="2862580" y="223139"/>
                  </a:cubicBezTo>
                  <a:lnTo>
                    <a:pt x="2862580" y="1450594"/>
                  </a:lnTo>
                  <a:cubicBezTo>
                    <a:pt x="2862580" y="1573911"/>
                    <a:pt x="2762631" y="1673733"/>
                    <a:pt x="2639441" y="1673733"/>
                  </a:cubicBezTo>
                  <a:lnTo>
                    <a:pt x="223139" y="1673733"/>
                  </a:lnTo>
                  <a:cubicBezTo>
                    <a:pt x="99949" y="1673860"/>
                    <a:pt x="0" y="1573911"/>
                    <a:pt x="0" y="1450721"/>
                  </a:cubicBezTo>
                  <a:close/>
                </a:path>
              </a:pathLst>
            </a:custGeom>
            <a:solidFill>
              <a:srgbClr val="0F2742"/>
            </a:solidFill>
            <a:ln w="20955" cap="sq">
              <a:solidFill>
                <a:srgbClr val="0F2742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2714732" y="3031236"/>
            <a:ext cx="1769364" cy="987552"/>
            <a:chOff x="0" y="0"/>
            <a:chExt cx="2359152" cy="131673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359152" cy="1316736"/>
            </a:xfrm>
            <a:custGeom>
              <a:avLst/>
              <a:gdLst/>
              <a:ahLst/>
              <a:cxnLst/>
              <a:rect l="l" t="t" r="r" b="b"/>
              <a:pathLst>
                <a:path w="2359152" h="1316736">
                  <a:moveTo>
                    <a:pt x="0" y="0"/>
                  </a:moveTo>
                  <a:lnTo>
                    <a:pt x="2359152" y="0"/>
                  </a:lnTo>
                  <a:lnTo>
                    <a:pt x="2359152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611" r="-21611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2359152" cy="1335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16"/>
                </a:lnSpc>
              </a:pPr>
              <a:r>
                <a:rPr lang="en-US" sz="168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Ranking</a:t>
              </a:r>
            </a:p>
            <a:p>
              <a:pPr algn="ctr">
                <a:lnSpc>
                  <a:spcPts val="2016"/>
                </a:lnSpc>
              </a:pPr>
              <a:r>
                <a:rPr lang="en-US" sz="168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Review</a:t>
              </a:r>
            </a:p>
          </p:txBody>
        </p:sp>
      </p:grpSp>
      <p:sp>
        <p:nvSpPr>
          <p:cNvPr id="42" name="AutoShape 42"/>
          <p:cNvSpPr/>
          <p:nvPr/>
        </p:nvSpPr>
        <p:spPr>
          <a:xfrm rot="145380">
            <a:off x="14689931" y="3492817"/>
            <a:ext cx="630736" cy="0"/>
          </a:xfrm>
          <a:prstGeom prst="line">
            <a:avLst/>
          </a:prstGeom>
          <a:ln w="9525" cap="rnd">
            <a:solidFill>
              <a:srgbClr val="5C667A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3" name="Group 43"/>
          <p:cNvGrpSpPr/>
          <p:nvPr/>
        </p:nvGrpSpPr>
        <p:grpSpPr>
          <a:xfrm>
            <a:off x="15378874" y="2869883"/>
            <a:ext cx="2146935" cy="1255395"/>
            <a:chOff x="0" y="0"/>
            <a:chExt cx="2862580" cy="167386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862580" cy="1673733"/>
            </a:xfrm>
            <a:custGeom>
              <a:avLst/>
              <a:gdLst/>
              <a:ahLst/>
              <a:cxnLst/>
              <a:rect l="l" t="t" r="r" b="b"/>
              <a:pathLst>
                <a:path w="2862580" h="1673733">
                  <a:moveTo>
                    <a:pt x="0" y="223139"/>
                  </a:moveTo>
                  <a:cubicBezTo>
                    <a:pt x="0" y="99949"/>
                    <a:pt x="99949" y="0"/>
                    <a:pt x="223139" y="0"/>
                  </a:cubicBezTo>
                  <a:lnTo>
                    <a:pt x="2639441" y="0"/>
                  </a:lnTo>
                  <a:cubicBezTo>
                    <a:pt x="2762758" y="0"/>
                    <a:pt x="2862580" y="99949"/>
                    <a:pt x="2862580" y="223139"/>
                  </a:cubicBezTo>
                  <a:lnTo>
                    <a:pt x="2862580" y="1450594"/>
                  </a:lnTo>
                  <a:cubicBezTo>
                    <a:pt x="2862580" y="1573911"/>
                    <a:pt x="2762631" y="1673733"/>
                    <a:pt x="2639441" y="1673733"/>
                  </a:cubicBezTo>
                  <a:lnTo>
                    <a:pt x="223139" y="1673733"/>
                  </a:lnTo>
                  <a:cubicBezTo>
                    <a:pt x="99949" y="1673860"/>
                    <a:pt x="0" y="1573911"/>
                    <a:pt x="0" y="1450721"/>
                  </a:cubicBezTo>
                  <a:close/>
                </a:path>
              </a:pathLst>
            </a:custGeom>
            <a:solidFill>
              <a:srgbClr val="FFFFFF"/>
            </a:solidFill>
            <a:ln w="20955" cap="sq">
              <a:solidFill>
                <a:srgbClr val="D84C4C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5567660" y="3031236"/>
            <a:ext cx="1769364" cy="987552"/>
            <a:chOff x="0" y="0"/>
            <a:chExt cx="2359152" cy="131673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359152" cy="1316736"/>
            </a:xfrm>
            <a:custGeom>
              <a:avLst/>
              <a:gdLst/>
              <a:ahLst/>
              <a:cxnLst/>
              <a:rect l="l" t="t" r="r" b="b"/>
              <a:pathLst>
                <a:path w="2359152" h="1316736">
                  <a:moveTo>
                    <a:pt x="0" y="0"/>
                  </a:moveTo>
                  <a:lnTo>
                    <a:pt x="2359152" y="0"/>
                  </a:lnTo>
                  <a:lnTo>
                    <a:pt x="2359152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611" r="-21611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2359152" cy="1335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16"/>
                </a:lnSpc>
              </a:pPr>
              <a:r>
                <a:rPr lang="en-US" sz="168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Evidence</a:t>
              </a:r>
            </a:p>
            <a:p>
              <a:pPr algn="ctr">
                <a:lnSpc>
                  <a:spcPts val="2016"/>
                </a:lnSpc>
              </a:pPr>
              <a:r>
                <a:rPr lang="en-US" sz="168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Panel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24915" y="5545455"/>
            <a:ext cx="4545330" cy="1939290"/>
            <a:chOff x="0" y="0"/>
            <a:chExt cx="6060440" cy="25857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060440" cy="2585720"/>
            </a:xfrm>
            <a:custGeom>
              <a:avLst/>
              <a:gdLst/>
              <a:ahLst/>
              <a:cxnLst/>
              <a:rect l="l" t="t" r="r" b="b"/>
              <a:pathLst>
                <a:path w="6060440" h="2585720">
                  <a:moveTo>
                    <a:pt x="0" y="240157"/>
                  </a:moveTo>
                  <a:cubicBezTo>
                    <a:pt x="0" y="107442"/>
                    <a:pt x="107442" y="0"/>
                    <a:pt x="240157" y="0"/>
                  </a:cubicBezTo>
                  <a:lnTo>
                    <a:pt x="5820283" y="0"/>
                  </a:lnTo>
                  <a:cubicBezTo>
                    <a:pt x="5952871" y="0"/>
                    <a:pt x="6060440" y="107442"/>
                    <a:pt x="6060440" y="240157"/>
                  </a:cubicBezTo>
                  <a:lnTo>
                    <a:pt x="6060440" y="2345563"/>
                  </a:lnTo>
                  <a:cubicBezTo>
                    <a:pt x="6060440" y="2478151"/>
                    <a:pt x="5952998" y="2585720"/>
                    <a:pt x="5820283" y="2585720"/>
                  </a:cubicBezTo>
                  <a:lnTo>
                    <a:pt x="240157" y="2585720"/>
                  </a:lnTo>
                  <a:cubicBezTo>
                    <a:pt x="107442" y="2585720"/>
                    <a:pt x="0" y="2478278"/>
                    <a:pt x="0" y="2345563"/>
                  </a:cubicBezTo>
                  <a:close/>
                </a:path>
              </a:pathLst>
            </a:custGeom>
            <a:solidFill>
              <a:srgbClr val="EAF3FF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481328" y="5760720"/>
            <a:ext cx="4032504" cy="329184"/>
            <a:chOff x="0" y="0"/>
            <a:chExt cx="5376672" cy="43891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376672" cy="438912"/>
            </a:xfrm>
            <a:custGeom>
              <a:avLst/>
              <a:gdLst/>
              <a:ahLst/>
              <a:cxnLst/>
              <a:rect l="l" t="t" r="r" b="b"/>
              <a:pathLst>
                <a:path w="5376672" h="438912">
                  <a:moveTo>
                    <a:pt x="0" y="0"/>
                  </a:moveTo>
                  <a:lnTo>
                    <a:pt x="5376672" y="0"/>
                  </a:lnTo>
                  <a:lnTo>
                    <a:pt x="537667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8691" b="-18869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537667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Search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481585" y="6276851"/>
            <a:ext cx="4031999" cy="103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Use semantic search to retrieve candidate chunks that are close to the clinical query.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6779895" y="5545455"/>
            <a:ext cx="4545330" cy="1939290"/>
            <a:chOff x="0" y="0"/>
            <a:chExt cx="6060440" cy="25857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060440" cy="2585720"/>
            </a:xfrm>
            <a:custGeom>
              <a:avLst/>
              <a:gdLst/>
              <a:ahLst/>
              <a:cxnLst/>
              <a:rect l="l" t="t" r="r" b="b"/>
              <a:pathLst>
                <a:path w="6060440" h="2585720">
                  <a:moveTo>
                    <a:pt x="0" y="240157"/>
                  </a:moveTo>
                  <a:cubicBezTo>
                    <a:pt x="0" y="107442"/>
                    <a:pt x="107442" y="0"/>
                    <a:pt x="240157" y="0"/>
                  </a:cubicBezTo>
                  <a:lnTo>
                    <a:pt x="5820283" y="0"/>
                  </a:lnTo>
                  <a:cubicBezTo>
                    <a:pt x="5952871" y="0"/>
                    <a:pt x="6060440" y="107442"/>
                    <a:pt x="6060440" y="240157"/>
                  </a:cubicBezTo>
                  <a:lnTo>
                    <a:pt x="6060440" y="2345563"/>
                  </a:lnTo>
                  <a:cubicBezTo>
                    <a:pt x="6060440" y="2478151"/>
                    <a:pt x="5952998" y="2585720"/>
                    <a:pt x="5820283" y="2585720"/>
                  </a:cubicBezTo>
                  <a:lnTo>
                    <a:pt x="240157" y="2585720"/>
                  </a:lnTo>
                  <a:cubicBezTo>
                    <a:pt x="107442" y="2585720"/>
                    <a:pt x="0" y="2478278"/>
                    <a:pt x="0" y="2345563"/>
                  </a:cubicBezTo>
                  <a:close/>
                </a:path>
              </a:pathLst>
            </a:custGeom>
            <a:solidFill>
              <a:srgbClr val="EAFBF7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7036308" y="5760720"/>
            <a:ext cx="4032504" cy="329184"/>
            <a:chOff x="0" y="0"/>
            <a:chExt cx="5376672" cy="43891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376672" cy="438912"/>
            </a:xfrm>
            <a:custGeom>
              <a:avLst/>
              <a:gdLst/>
              <a:ahLst/>
              <a:cxnLst/>
              <a:rect l="l" t="t" r="r" b="b"/>
              <a:pathLst>
                <a:path w="5376672" h="438912">
                  <a:moveTo>
                    <a:pt x="0" y="0"/>
                  </a:moveTo>
                  <a:lnTo>
                    <a:pt x="5376672" y="0"/>
                  </a:lnTo>
                  <a:lnTo>
                    <a:pt x="537667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8691" b="-188691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537667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Review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7036565" y="6276851"/>
            <a:ext cx="4031999" cy="103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Inspect the top results manually. Scores alone are not enough in clinical use cases.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12334875" y="5545455"/>
            <a:ext cx="4133850" cy="1939290"/>
            <a:chOff x="0" y="0"/>
            <a:chExt cx="5511800" cy="258572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511800" cy="2585720"/>
            </a:xfrm>
            <a:custGeom>
              <a:avLst/>
              <a:gdLst/>
              <a:ahLst/>
              <a:cxnLst/>
              <a:rect l="l" t="t" r="r" b="b"/>
              <a:pathLst>
                <a:path w="5511800" h="2585720">
                  <a:moveTo>
                    <a:pt x="0" y="240157"/>
                  </a:moveTo>
                  <a:cubicBezTo>
                    <a:pt x="0" y="107442"/>
                    <a:pt x="107442" y="0"/>
                    <a:pt x="240157" y="0"/>
                  </a:cubicBezTo>
                  <a:lnTo>
                    <a:pt x="5271643" y="0"/>
                  </a:lnTo>
                  <a:cubicBezTo>
                    <a:pt x="5404358" y="0"/>
                    <a:pt x="5511800" y="107442"/>
                    <a:pt x="5511800" y="240157"/>
                  </a:cubicBezTo>
                  <a:lnTo>
                    <a:pt x="5511800" y="2345563"/>
                  </a:lnTo>
                  <a:cubicBezTo>
                    <a:pt x="5511800" y="2478151"/>
                    <a:pt x="5404358" y="2585720"/>
                    <a:pt x="5271643" y="2585720"/>
                  </a:cubicBezTo>
                  <a:lnTo>
                    <a:pt x="240157" y="2585720"/>
                  </a:lnTo>
                  <a:cubicBezTo>
                    <a:pt x="107442" y="2585720"/>
                    <a:pt x="0" y="2478278"/>
                    <a:pt x="0" y="2345563"/>
                  </a:cubicBezTo>
                  <a:close/>
                </a:path>
              </a:pathLst>
            </a:custGeom>
            <a:solidFill>
              <a:srgbClr val="FFF2D8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12591288" y="5760720"/>
            <a:ext cx="3621024" cy="329184"/>
            <a:chOff x="0" y="0"/>
            <a:chExt cx="4828032" cy="43891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828032" cy="438912"/>
            </a:xfrm>
            <a:custGeom>
              <a:avLst/>
              <a:gdLst/>
              <a:ahLst/>
              <a:cxnLst/>
              <a:rect l="l" t="t" r="r" b="b"/>
              <a:pathLst>
                <a:path w="4828032" h="438912">
                  <a:moveTo>
                    <a:pt x="0" y="0"/>
                  </a:moveTo>
                  <a:lnTo>
                    <a:pt x="4828032" y="0"/>
                  </a:lnTo>
                  <a:lnTo>
                    <a:pt x="48280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9525"/>
              <a:ext cx="482803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Display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2591545" y="6276851"/>
            <a:ext cx="3620519" cy="103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Show retrieved chunks before generation so the system is explainable to judges.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1042416" y="9710928"/>
            <a:ext cx="5486400" cy="219456"/>
            <a:chOff x="0" y="0"/>
            <a:chExt cx="7315200" cy="29260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315200" cy="292608"/>
            </a:xfrm>
            <a:custGeom>
              <a:avLst/>
              <a:gdLst/>
              <a:ahLst/>
              <a:cxnLst/>
              <a:rect l="l" t="t" r="r" b="b"/>
              <a:pathLst>
                <a:path w="7315200" h="292608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731520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4"/>
                </a:lnSpc>
              </a:pPr>
              <a:r>
                <a:rPr lang="en-US" sz="117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AI Clinical Decision Support Lite Hackathon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6527780" y="9642348"/>
            <a:ext cx="685800" cy="246888"/>
            <a:chOff x="0" y="0"/>
            <a:chExt cx="914400" cy="32918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14400" cy="329184"/>
            </a:xfrm>
            <a:custGeom>
              <a:avLst/>
              <a:gdLst/>
              <a:ahLst/>
              <a:cxnLst/>
              <a:rect l="l" t="t" r="r" b="b"/>
              <a:pathLst>
                <a:path w="914400" h="329184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75"/>
                </a:lnSpc>
              </a:pPr>
              <a:r>
                <a:rPr lang="en-US" sz="1230" b="1">
                  <a:solidFill>
                    <a:srgbClr val="5C6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pic>
        <p:nvPicPr>
          <p:cNvPr id="72" name="Google Shape;90;p1">
            <a:extLst>
              <a:ext uri="{FF2B5EF4-FFF2-40B4-BE49-F238E27FC236}">
                <a16:creationId xmlns:a16="http://schemas.microsoft.com/office/drawing/2014/main" id="{EEE2DB4D-87F4-47BD-B5C0-7B597F6FECC8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06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247960">
            <a:off x="382276" y="849820"/>
            <a:ext cx="1292857" cy="0"/>
          </a:xfrm>
          <a:prstGeom prst="line">
            <a:avLst/>
          </a:prstGeom>
          <a:ln w="28575" cap="rnd">
            <a:solidFill>
              <a:srgbClr val="15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576072"/>
            <a:ext cx="13441680" cy="617220"/>
            <a:chOff x="0" y="0"/>
            <a:chExt cx="17922240" cy="822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makes retrieval “good”?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6736" y="1234440"/>
            <a:ext cx="12618720" cy="384048"/>
            <a:chOff x="0" y="0"/>
            <a:chExt cx="16824960" cy="512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24961" cy="512064"/>
            </a:xfrm>
            <a:custGeom>
              <a:avLst/>
              <a:gdLst/>
              <a:ahLst/>
              <a:cxnLst/>
              <a:rect l="l" t="t" r="r" b="b"/>
              <a:pathLst>
                <a:path w="16824961" h="512064">
                  <a:moveTo>
                    <a:pt x="0" y="0"/>
                  </a:moveTo>
                  <a:lnTo>
                    <a:pt x="16824961" y="0"/>
                  </a:lnTo>
                  <a:lnTo>
                    <a:pt x="168249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682496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Good retrieval means the right evidence appears near the top, with enough context to answer.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2820">
            <a:off x="1022032" y="1682306"/>
            <a:ext cx="16266805" cy="0"/>
          </a:xfrm>
          <a:prstGeom prst="line">
            <a:avLst/>
          </a:prstGeom>
          <a:ln w="9525" cap="rnd">
            <a:solidFill>
              <a:srgbClr val="D8DE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156335" y="2116455"/>
            <a:ext cx="4888230" cy="6218682"/>
            <a:chOff x="0" y="0"/>
            <a:chExt cx="6517640" cy="829157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517640" cy="8291576"/>
            </a:xfrm>
            <a:custGeom>
              <a:avLst/>
              <a:gdLst/>
              <a:ahLst/>
              <a:cxnLst/>
              <a:rect l="l" t="t" r="r" b="b"/>
              <a:pathLst>
                <a:path w="6517640" h="8291576">
                  <a:moveTo>
                    <a:pt x="0" y="238633"/>
                  </a:moveTo>
                  <a:cubicBezTo>
                    <a:pt x="0" y="106807"/>
                    <a:pt x="106807" y="0"/>
                    <a:pt x="238633" y="0"/>
                  </a:cubicBezTo>
                  <a:lnTo>
                    <a:pt x="6279007" y="0"/>
                  </a:lnTo>
                  <a:cubicBezTo>
                    <a:pt x="6410833" y="0"/>
                    <a:pt x="6517640" y="106807"/>
                    <a:pt x="6517640" y="238633"/>
                  </a:cubicBezTo>
                  <a:lnTo>
                    <a:pt x="6517640" y="8052943"/>
                  </a:lnTo>
                  <a:cubicBezTo>
                    <a:pt x="6517640" y="8184769"/>
                    <a:pt x="6410833" y="8291576"/>
                    <a:pt x="6279007" y="8291576"/>
                  </a:cubicBezTo>
                  <a:lnTo>
                    <a:pt x="238633" y="8291576"/>
                  </a:lnTo>
                  <a:cubicBezTo>
                    <a:pt x="106807" y="8291576"/>
                    <a:pt x="0" y="8184769"/>
                    <a:pt x="0" y="8052943"/>
                  </a:cubicBezTo>
                  <a:close/>
                </a:path>
              </a:pathLst>
            </a:custGeom>
            <a:solidFill>
              <a:srgbClr val="EAFBF7"/>
            </a:solidFill>
            <a:ln w="19050" cap="sq">
              <a:solidFill>
                <a:srgbClr val="5FB49C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412748" y="2331720"/>
            <a:ext cx="4375404" cy="329184"/>
            <a:chOff x="0" y="0"/>
            <a:chExt cx="5833872" cy="4389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833872" cy="438912"/>
            </a:xfrm>
            <a:custGeom>
              <a:avLst/>
              <a:gdLst/>
              <a:ahLst/>
              <a:cxnLst/>
              <a:rect l="l" t="t" r="r" b="b"/>
              <a:pathLst>
                <a:path w="5833872" h="438912">
                  <a:moveTo>
                    <a:pt x="0" y="0"/>
                  </a:moveTo>
                  <a:lnTo>
                    <a:pt x="5833872" y="0"/>
                  </a:lnTo>
                  <a:lnTo>
                    <a:pt x="583387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988" b="-208988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583387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Relevant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13005" y="2847851"/>
            <a:ext cx="4374899" cy="531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The chunk directly addresses the clinical question, not just a similar medical topic.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683883" y="2116455"/>
            <a:ext cx="4888230" cy="6218682"/>
            <a:chOff x="0" y="0"/>
            <a:chExt cx="6517640" cy="829157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517640" cy="8291576"/>
            </a:xfrm>
            <a:custGeom>
              <a:avLst/>
              <a:gdLst/>
              <a:ahLst/>
              <a:cxnLst/>
              <a:rect l="l" t="t" r="r" b="b"/>
              <a:pathLst>
                <a:path w="6517640" h="8291576">
                  <a:moveTo>
                    <a:pt x="0" y="238633"/>
                  </a:moveTo>
                  <a:cubicBezTo>
                    <a:pt x="0" y="106807"/>
                    <a:pt x="106807" y="0"/>
                    <a:pt x="238633" y="0"/>
                  </a:cubicBezTo>
                  <a:lnTo>
                    <a:pt x="6279007" y="0"/>
                  </a:lnTo>
                  <a:cubicBezTo>
                    <a:pt x="6410833" y="0"/>
                    <a:pt x="6517640" y="106807"/>
                    <a:pt x="6517640" y="238633"/>
                  </a:cubicBezTo>
                  <a:lnTo>
                    <a:pt x="6517640" y="8052943"/>
                  </a:lnTo>
                  <a:cubicBezTo>
                    <a:pt x="6517640" y="8184769"/>
                    <a:pt x="6410833" y="8291576"/>
                    <a:pt x="6279007" y="8291576"/>
                  </a:cubicBezTo>
                  <a:lnTo>
                    <a:pt x="238633" y="8291576"/>
                  </a:lnTo>
                  <a:cubicBezTo>
                    <a:pt x="106807" y="8291576"/>
                    <a:pt x="0" y="8184769"/>
                    <a:pt x="0" y="8052943"/>
                  </a:cubicBezTo>
                  <a:close/>
                </a:path>
              </a:pathLst>
            </a:custGeom>
            <a:solidFill>
              <a:srgbClr val="EAF3FF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940296" y="2331720"/>
            <a:ext cx="4375404" cy="329184"/>
            <a:chOff x="0" y="0"/>
            <a:chExt cx="5833872" cy="4389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33872" cy="438912"/>
            </a:xfrm>
            <a:custGeom>
              <a:avLst/>
              <a:gdLst/>
              <a:ahLst/>
              <a:cxnLst/>
              <a:rect l="l" t="t" r="r" b="b"/>
              <a:pathLst>
                <a:path w="5833872" h="438912">
                  <a:moveTo>
                    <a:pt x="0" y="0"/>
                  </a:moveTo>
                  <a:lnTo>
                    <a:pt x="5833872" y="0"/>
                  </a:lnTo>
                  <a:lnTo>
                    <a:pt x="583387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988" b="-208988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583387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Specific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940553" y="2847851"/>
            <a:ext cx="4374899" cy="531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The chunk contains the recommendation, threshold, criteria, or evidence needed for the answer.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197715" y="2116455"/>
            <a:ext cx="4380738" cy="6218682"/>
            <a:chOff x="0" y="0"/>
            <a:chExt cx="5840984" cy="829157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840984" cy="8291576"/>
            </a:xfrm>
            <a:custGeom>
              <a:avLst/>
              <a:gdLst/>
              <a:ahLst/>
              <a:cxnLst/>
              <a:rect l="l" t="t" r="r" b="b"/>
              <a:pathLst>
                <a:path w="5840984" h="8291576">
                  <a:moveTo>
                    <a:pt x="0" y="238760"/>
                  </a:moveTo>
                  <a:cubicBezTo>
                    <a:pt x="0" y="106934"/>
                    <a:pt x="106934" y="0"/>
                    <a:pt x="238760" y="0"/>
                  </a:cubicBezTo>
                  <a:lnTo>
                    <a:pt x="5602224" y="0"/>
                  </a:lnTo>
                  <a:cubicBezTo>
                    <a:pt x="5734050" y="0"/>
                    <a:pt x="5840984" y="106934"/>
                    <a:pt x="5840984" y="238760"/>
                  </a:cubicBezTo>
                  <a:lnTo>
                    <a:pt x="5840984" y="8052816"/>
                  </a:lnTo>
                  <a:cubicBezTo>
                    <a:pt x="5840984" y="8184642"/>
                    <a:pt x="5734050" y="8291576"/>
                    <a:pt x="5602224" y="8291576"/>
                  </a:cubicBezTo>
                  <a:lnTo>
                    <a:pt x="238760" y="8291576"/>
                  </a:lnTo>
                  <a:cubicBezTo>
                    <a:pt x="106934" y="8291576"/>
                    <a:pt x="0" y="8184642"/>
                    <a:pt x="0" y="8052816"/>
                  </a:cubicBezTo>
                  <a:close/>
                </a:path>
              </a:pathLst>
            </a:custGeom>
            <a:solidFill>
              <a:srgbClr val="FFF2D8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454128" y="2331720"/>
            <a:ext cx="3867912" cy="329184"/>
            <a:chOff x="0" y="0"/>
            <a:chExt cx="5157216" cy="4389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157216" cy="438912"/>
            </a:xfrm>
            <a:custGeom>
              <a:avLst/>
              <a:gdLst/>
              <a:ahLst/>
              <a:cxnLst/>
              <a:rect l="l" t="t" r="r" b="b"/>
              <a:pathLst>
                <a:path w="5157216" h="438912">
                  <a:moveTo>
                    <a:pt x="0" y="0"/>
                  </a:moveTo>
                  <a:lnTo>
                    <a:pt x="5157216" y="0"/>
                  </a:lnTo>
                  <a:lnTo>
                    <a:pt x="515721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949" b="-178949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5157216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Traceable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454385" y="2847851"/>
            <a:ext cx="3867407" cy="531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The chunk includes page, section, document name, and enough text for a citation.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704975" y="8521827"/>
            <a:ext cx="14832330" cy="677418"/>
            <a:chOff x="0" y="0"/>
            <a:chExt cx="19776440" cy="90322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776441" cy="903224"/>
            </a:xfrm>
            <a:custGeom>
              <a:avLst/>
              <a:gdLst/>
              <a:ahLst/>
              <a:cxnLst/>
              <a:rect l="l" t="t" r="r" b="b"/>
              <a:pathLst>
                <a:path w="19776441" h="903224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19437731" y="0"/>
                  </a:lnTo>
                  <a:cubicBezTo>
                    <a:pt x="19624802" y="0"/>
                    <a:pt x="19776441" y="151638"/>
                    <a:pt x="19776441" y="338709"/>
                  </a:cubicBezTo>
                  <a:lnTo>
                    <a:pt x="19776441" y="564515"/>
                  </a:lnTo>
                  <a:cubicBezTo>
                    <a:pt x="19776441" y="751586"/>
                    <a:pt x="19624802" y="903224"/>
                    <a:pt x="19437731" y="903224"/>
                  </a:cubicBezTo>
                  <a:lnTo>
                    <a:pt x="338709" y="903224"/>
                  </a:lnTo>
                  <a:cubicBezTo>
                    <a:pt x="151638" y="903224"/>
                    <a:pt x="0" y="751586"/>
                    <a:pt x="0" y="564515"/>
                  </a:cubicBezTo>
                  <a:close/>
                </a:path>
              </a:pathLst>
            </a:custGeom>
            <a:solidFill>
              <a:srgbClr val="0F2742"/>
            </a:solidFill>
            <a:ln w="19050" cap="sq">
              <a:solidFill>
                <a:srgbClr val="0F2742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2125980" y="8723376"/>
            <a:ext cx="13990320" cy="219456"/>
            <a:chOff x="0" y="0"/>
            <a:chExt cx="18653760" cy="29260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8653761" cy="292608"/>
            </a:xfrm>
            <a:custGeom>
              <a:avLst/>
              <a:gdLst/>
              <a:ahLst/>
              <a:cxnLst/>
              <a:rect l="l" t="t" r="r" b="b"/>
              <a:pathLst>
                <a:path w="18653761" h="292608">
                  <a:moveTo>
                    <a:pt x="0" y="0"/>
                  </a:moveTo>
                  <a:lnTo>
                    <a:pt x="18653761" y="0"/>
                  </a:lnTo>
                  <a:lnTo>
                    <a:pt x="18653761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2171" b="-1192171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18653760" cy="321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32"/>
                </a:lnSpc>
              </a:pPr>
              <a:r>
                <a:rPr lang="en-US" sz="186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If the best evidence is not in Top-K, the final answer will likely be weak or unsafe.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42416" y="9710928"/>
            <a:ext cx="5486400" cy="219456"/>
            <a:chOff x="0" y="0"/>
            <a:chExt cx="7315200" cy="29260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315200" cy="292608"/>
            </a:xfrm>
            <a:custGeom>
              <a:avLst/>
              <a:gdLst/>
              <a:ahLst/>
              <a:cxnLst/>
              <a:rect l="l" t="t" r="r" b="b"/>
              <a:pathLst>
                <a:path w="7315200" h="292608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731520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4"/>
                </a:lnSpc>
              </a:pPr>
              <a:r>
                <a:rPr lang="en-US" sz="117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AI Clinical Decision Support Lite Hackathon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6527780" y="9642348"/>
            <a:ext cx="685800" cy="246888"/>
            <a:chOff x="0" y="0"/>
            <a:chExt cx="914400" cy="32918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14400" cy="329184"/>
            </a:xfrm>
            <a:custGeom>
              <a:avLst/>
              <a:gdLst/>
              <a:ahLst/>
              <a:cxnLst/>
              <a:rect l="l" t="t" r="r" b="b"/>
              <a:pathLst>
                <a:path w="914400" h="329184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75"/>
                </a:lnSpc>
              </a:pPr>
              <a:r>
                <a:rPr lang="en-US" sz="1230" b="1">
                  <a:solidFill>
                    <a:srgbClr val="5C6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pic>
        <p:nvPicPr>
          <p:cNvPr id="42" name="Google Shape;90;p1">
            <a:extLst>
              <a:ext uri="{FF2B5EF4-FFF2-40B4-BE49-F238E27FC236}">
                <a16:creationId xmlns:a16="http://schemas.microsoft.com/office/drawing/2014/main" id="{32CEFCA3-C4A6-422C-BF4C-DD27C3731202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06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247960">
            <a:off x="382276" y="849820"/>
            <a:ext cx="1292857" cy="0"/>
          </a:xfrm>
          <a:prstGeom prst="line">
            <a:avLst/>
          </a:prstGeom>
          <a:ln w="28575" cap="rnd">
            <a:solidFill>
              <a:srgbClr val="15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576072"/>
            <a:ext cx="13441680" cy="617220"/>
            <a:chOff x="0" y="0"/>
            <a:chExt cx="17922240" cy="822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 1 — Tune Top-K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6736" y="1234440"/>
            <a:ext cx="12618720" cy="384048"/>
            <a:chOff x="0" y="0"/>
            <a:chExt cx="16824960" cy="512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24961" cy="512064"/>
            </a:xfrm>
            <a:custGeom>
              <a:avLst/>
              <a:gdLst/>
              <a:ahLst/>
              <a:cxnLst/>
              <a:rect l="l" t="t" r="r" b="b"/>
              <a:pathLst>
                <a:path w="16824961" h="512064">
                  <a:moveTo>
                    <a:pt x="0" y="0"/>
                  </a:moveTo>
                  <a:lnTo>
                    <a:pt x="16824961" y="0"/>
                  </a:lnTo>
                  <a:lnTo>
                    <a:pt x="168249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682496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Top-K controls how many candidate chunks are passed forward for review or generation.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2820">
            <a:off x="1022032" y="1682306"/>
            <a:ext cx="16266805" cy="0"/>
          </a:xfrm>
          <a:prstGeom prst="line">
            <a:avLst/>
          </a:prstGeom>
          <a:ln w="9525" cap="rnd">
            <a:solidFill>
              <a:srgbClr val="D8DE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429702" y="2869883"/>
            <a:ext cx="3655695" cy="1145667"/>
            <a:chOff x="0" y="0"/>
            <a:chExt cx="4874260" cy="15275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74260" cy="1527556"/>
            </a:xfrm>
            <a:custGeom>
              <a:avLst/>
              <a:gdLst/>
              <a:ahLst/>
              <a:cxnLst/>
              <a:rect l="l" t="t" r="r" b="b"/>
              <a:pathLst>
                <a:path w="4874260" h="1527556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4650740" y="0"/>
                  </a:lnTo>
                  <a:cubicBezTo>
                    <a:pt x="4774184" y="0"/>
                    <a:pt x="4874260" y="100076"/>
                    <a:pt x="4874260" y="223520"/>
                  </a:cubicBezTo>
                  <a:lnTo>
                    <a:pt x="4874260" y="1304036"/>
                  </a:lnTo>
                  <a:cubicBezTo>
                    <a:pt x="4874260" y="1427480"/>
                    <a:pt x="4774184" y="1527556"/>
                    <a:pt x="4650740" y="1527556"/>
                  </a:cubicBezTo>
                  <a:lnTo>
                    <a:pt x="223520" y="1527556"/>
                  </a:lnTo>
                  <a:cubicBezTo>
                    <a:pt x="100076" y="1527556"/>
                    <a:pt x="0" y="1427480"/>
                    <a:pt x="0" y="1304036"/>
                  </a:cubicBezTo>
                  <a:close/>
                </a:path>
              </a:pathLst>
            </a:custGeom>
            <a:solidFill>
              <a:srgbClr val="EAFBF7"/>
            </a:solidFill>
            <a:ln w="20955" cap="sq">
              <a:solidFill>
                <a:srgbClr val="5FB49C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618488" y="3031236"/>
            <a:ext cx="3278124" cy="877824"/>
            <a:chOff x="0" y="0"/>
            <a:chExt cx="4370832" cy="1170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70832" cy="1170432"/>
            </a:xfrm>
            <a:custGeom>
              <a:avLst/>
              <a:gdLst/>
              <a:ahLst/>
              <a:cxnLst/>
              <a:rect l="l" t="t" r="r" b="b"/>
              <a:pathLst>
                <a:path w="4370832" h="1170432">
                  <a:moveTo>
                    <a:pt x="0" y="0"/>
                  </a:moveTo>
                  <a:lnTo>
                    <a:pt x="4370832" y="0"/>
                  </a:lnTo>
                  <a:lnTo>
                    <a:pt x="43708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64" b="-22764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4370832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Top-3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High precision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87403" y="2869883"/>
            <a:ext cx="3655695" cy="1145667"/>
            <a:chOff x="0" y="0"/>
            <a:chExt cx="4874260" cy="15275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74260" cy="1527556"/>
            </a:xfrm>
            <a:custGeom>
              <a:avLst/>
              <a:gdLst/>
              <a:ahLst/>
              <a:cxnLst/>
              <a:rect l="l" t="t" r="r" b="b"/>
              <a:pathLst>
                <a:path w="4874260" h="1527556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4650740" y="0"/>
                  </a:lnTo>
                  <a:cubicBezTo>
                    <a:pt x="4774184" y="0"/>
                    <a:pt x="4874260" y="100076"/>
                    <a:pt x="4874260" y="223520"/>
                  </a:cubicBezTo>
                  <a:lnTo>
                    <a:pt x="4874260" y="1304036"/>
                  </a:lnTo>
                  <a:cubicBezTo>
                    <a:pt x="4874260" y="1427480"/>
                    <a:pt x="4774184" y="1527556"/>
                    <a:pt x="4650740" y="1527556"/>
                  </a:cubicBezTo>
                  <a:lnTo>
                    <a:pt x="223520" y="1527556"/>
                  </a:lnTo>
                  <a:cubicBezTo>
                    <a:pt x="100076" y="1527556"/>
                    <a:pt x="0" y="1427480"/>
                    <a:pt x="0" y="1304036"/>
                  </a:cubicBezTo>
                  <a:close/>
                </a:path>
              </a:pathLst>
            </a:custGeom>
            <a:solidFill>
              <a:srgbClr val="EAF3FF"/>
            </a:solidFill>
            <a:ln w="20955" cap="sq">
              <a:solidFill>
                <a:srgbClr val="2F80ED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076188" y="3031236"/>
            <a:ext cx="3278124" cy="877824"/>
            <a:chOff x="0" y="0"/>
            <a:chExt cx="4370832" cy="117043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370832" cy="1170432"/>
            </a:xfrm>
            <a:custGeom>
              <a:avLst/>
              <a:gdLst/>
              <a:ahLst/>
              <a:cxnLst/>
              <a:rect l="l" t="t" r="r" b="b"/>
              <a:pathLst>
                <a:path w="4370832" h="1170432">
                  <a:moveTo>
                    <a:pt x="0" y="0"/>
                  </a:moveTo>
                  <a:lnTo>
                    <a:pt x="4370832" y="0"/>
                  </a:lnTo>
                  <a:lnTo>
                    <a:pt x="43708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64" b="-22764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4370832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Top-5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Balanced start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345102" y="2869883"/>
            <a:ext cx="3655695" cy="1145667"/>
            <a:chOff x="0" y="0"/>
            <a:chExt cx="4874260" cy="15275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74260" cy="1527556"/>
            </a:xfrm>
            <a:custGeom>
              <a:avLst/>
              <a:gdLst/>
              <a:ahLst/>
              <a:cxnLst/>
              <a:rect l="l" t="t" r="r" b="b"/>
              <a:pathLst>
                <a:path w="4874260" h="1527556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4650740" y="0"/>
                  </a:lnTo>
                  <a:cubicBezTo>
                    <a:pt x="4774184" y="0"/>
                    <a:pt x="4874260" y="100076"/>
                    <a:pt x="4874260" y="223520"/>
                  </a:cubicBezTo>
                  <a:lnTo>
                    <a:pt x="4874260" y="1304036"/>
                  </a:lnTo>
                  <a:cubicBezTo>
                    <a:pt x="4874260" y="1427480"/>
                    <a:pt x="4774184" y="1527556"/>
                    <a:pt x="4650740" y="1527556"/>
                  </a:cubicBezTo>
                  <a:lnTo>
                    <a:pt x="223520" y="1527556"/>
                  </a:lnTo>
                  <a:cubicBezTo>
                    <a:pt x="100076" y="1527556"/>
                    <a:pt x="0" y="1427480"/>
                    <a:pt x="0" y="1304036"/>
                  </a:cubicBezTo>
                  <a:close/>
                </a:path>
              </a:pathLst>
            </a:custGeom>
            <a:solidFill>
              <a:srgbClr val="FFF2D8"/>
            </a:solidFill>
            <a:ln w="20955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533888" y="3031236"/>
            <a:ext cx="3278124" cy="877824"/>
            <a:chOff x="0" y="0"/>
            <a:chExt cx="4370832" cy="117043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370832" cy="1170432"/>
            </a:xfrm>
            <a:custGeom>
              <a:avLst/>
              <a:gdLst/>
              <a:ahLst/>
              <a:cxnLst/>
              <a:rect l="l" t="t" r="r" b="b"/>
              <a:pathLst>
                <a:path w="4370832" h="1170432">
                  <a:moveTo>
                    <a:pt x="0" y="0"/>
                  </a:moveTo>
                  <a:lnTo>
                    <a:pt x="4370832" y="0"/>
                  </a:lnTo>
                  <a:lnTo>
                    <a:pt x="43708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764" b="-22764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4370832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Top-10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More recall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 rot="208980">
            <a:off x="5308063" y="3437954"/>
            <a:ext cx="438960" cy="0"/>
          </a:xfrm>
          <a:prstGeom prst="line">
            <a:avLst/>
          </a:prstGeom>
          <a:ln w="9525" cap="rnd">
            <a:solidFill>
              <a:srgbClr val="5C667A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9" name="AutoShape 29"/>
          <p:cNvSpPr/>
          <p:nvPr/>
        </p:nvSpPr>
        <p:spPr>
          <a:xfrm rot="208980">
            <a:off x="9765763" y="3437954"/>
            <a:ext cx="438960" cy="0"/>
          </a:xfrm>
          <a:prstGeom prst="line">
            <a:avLst/>
          </a:prstGeom>
          <a:ln w="9525" cap="rnd">
            <a:solidFill>
              <a:srgbClr val="5C667A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0" name="Group 30"/>
          <p:cNvGrpSpPr/>
          <p:nvPr/>
        </p:nvGrpSpPr>
        <p:grpSpPr>
          <a:xfrm>
            <a:off x="1334643" y="5545455"/>
            <a:ext cx="4476750" cy="2103882"/>
            <a:chOff x="0" y="0"/>
            <a:chExt cx="5969000" cy="280517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969000" cy="2805176"/>
            </a:xfrm>
            <a:custGeom>
              <a:avLst/>
              <a:gdLst/>
              <a:ahLst/>
              <a:cxnLst/>
              <a:rect l="l" t="t" r="r" b="b"/>
              <a:pathLst>
                <a:path w="5969000" h="2805176">
                  <a:moveTo>
                    <a:pt x="0" y="239903"/>
                  </a:moveTo>
                  <a:cubicBezTo>
                    <a:pt x="0" y="107442"/>
                    <a:pt x="107442" y="0"/>
                    <a:pt x="239903" y="0"/>
                  </a:cubicBezTo>
                  <a:lnTo>
                    <a:pt x="5729097" y="0"/>
                  </a:lnTo>
                  <a:cubicBezTo>
                    <a:pt x="5861558" y="0"/>
                    <a:pt x="5969000" y="107442"/>
                    <a:pt x="5969000" y="239903"/>
                  </a:cubicBezTo>
                  <a:lnTo>
                    <a:pt x="5969000" y="2565273"/>
                  </a:lnTo>
                  <a:cubicBezTo>
                    <a:pt x="5969000" y="2697734"/>
                    <a:pt x="5861558" y="2805176"/>
                    <a:pt x="5729097" y="2805176"/>
                  </a:cubicBezTo>
                  <a:lnTo>
                    <a:pt x="239903" y="2805176"/>
                  </a:lnTo>
                  <a:cubicBezTo>
                    <a:pt x="107442" y="2805176"/>
                    <a:pt x="0" y="2697734"/>
                    <a:pt x="0" y="2565273"/>
                  </a:cubicBezTo>
                  <a:close/>
                </a:path>
              </a:pathLst>
            </a:custGeom>
            <a:solidFill>
              <a:srgbClr val="FDEBEC"/>
            </a:solidFill>
            <a:ln w="19050" cap="sq">
              <a:solidFill>
                <a:srgbClr val="D84C4C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591056" y="5760720"/>
            <a:ext cx="3963924" cy="329184"/>
            <a:chOff x="0" y="0"/>
            <a:chExt cx="5285232" cy="43891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285232" cy="438912"/>
            </a:xfrm>
            <a:custGeom>
              <a:avLst/>
              <a:gdLst/>
              <a:ahLst/>
              <a:cxnLst/>
              <a:rect l="l" t="t" r="r" b="b"/>
              <a:pathLst>
                <a:path w="5285232" h="438912">
                  <a:moveTo>
                    <a:pt x="0" y="0"/>
                  </a:moveTo>
                  <a:lnTo>
                    <a:pt x="5285232" y="0"/>
                  </a:lnTo>
                  <a:lnTo>
                    <a:pt x="52852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632" b="-18463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528523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Too small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591313" y="6276851"/>
            <a:ext cx="3963419" cy="1198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You may miss the correct evidence, especially when wording differs from the guideline.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683883" y="5545455"/>
            <a:ext cx="4476750" cy="2103882"/>
            <a:chOff x="0" y="0"/>
            <a:chExt cx="5969000" cy="280517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969000" cy="2805176"/>
            </a:xfrm>
            <a:custGeom>
              <a:avLst/>
              <a:gdLst/>
              <a:ahLst/>
              <a:cxnLst/>
              <a:rect l="l" t="t" r="r" b="b"/>
              <a:pathLst>
                <a:path w="5969000" h="2805176">
                  <a:moveTo>
                    <a:pt x="0" y="239903"/>
                  </a:moveTo>
                  <a:cubicBezTo>
                    <a:pt x="0" y="107442"/>
                    <a:pt x="107442" y="0"/>
                    <a:pt x="239903" y="0"/>
                  </a:cubicBezTo>
                  <a:lnTo>
                    <a:pt x="5729097" y="0"/>
                  </a:lnTo>
                  <a:cubicBezTo>
                    <a:pt x="5861558" y="0"/>
                    <a:pt x="5969000" y="107442"/>
                    <a:pt x="5969000" y="239903"/>
                  </a:cubicBezTo>
                  <a:lnTo>
                    <a:pt x="5969000" y="2565273"/>
                  </a:lnTo>
                  <a:cubicBezTo>
                    <a:pt x="5969000" y="2697734"/>
                    <a:pt x="5861558" y="2805176"/>
                    <a:pt x="5729097" y="2805176"/>
                  </a:cubicBezTo>
                  <a:lnTo>
                    <a:pt x="239903" y="2805176"/>
                  </a:lnTo>
                  <a:cubicBezTo>
                    <a:pt x="107442" y="2805176"/>
                    <a:pt x="0" y="2697734"/>
                    <a:pt x="0" y="2565273"/>
                  </a:cubicBezTo>
                  <a:close/>
                </a:path>
              </a:pathLst>
            </a:custGeom>
            <a:solidFill>
              <a:srgbClr val="EAF3FF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940296" y="5760720"/>
            <a:ext cx="3963924" cy="329184"/>
            <a:chOff x="0" y="0"/>
            <a:chExt cx="5285232" cy="43891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285232" cy="438912"/>
            </a:xfrm>
            <a:custGeom>
              <a:avLst/>
              <a:gdLst/>
              <a:ahLst/>
              <a:cxnLst/>
              <a:rect l="l" t="t" r="r" b="b"/>
              <a:pathLst>
                <a:path w="5285232" h="438912">
                  <a:moveTo>
                    <a:pt x="0" y="0"/>
                  </a:moveTo>
                  <a:lnTo>
                    <a:pt x="5285232" y="0"/>
                  </a:lnTo>
                  <a:lnTo>
                    <a:pt x="52852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632" b="-184632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528523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Recommended today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940553" y="6276851"/>
            <a:ext cx="3963419" cy="1198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Start with Top-5, inspect results, then compare against Top-3 and Top-10.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2033123" y="5545455"/>
            <a:ext cx="4202430" cy="2103882"/>
            <a:chOff x="0" y="0"/>
            <a:chExt cx="5603240" cy="280517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603240" cy="2805176"/>
            </a:xfrm>
            <a:custGeom>
              <a:avLst/>
              <a:gdLst/>
              <a:ahLst/>
              <a:cxnLst/>
              <a:rect l="l" t="t" r="r" b="b"/>
              <a:pathLst>
                <a:path w="5603240" h="2805176">
                  <a:moveTo>
                    <a:pt x="0" y="239903"/>
                  </a:moveTo>
                  <a:cubicBezTo>
                    <a:pt x="0" y="107442"/>
                    <a:pt x="107442" y="0"/>
                    <a:pt x="239903" y="0"/>
                  </a:cubicBezTo>
                  <a:lnTo>
                    <a:pt x="5363337" y="0"/>
                  </a:lnTo>
                  <a:cubicBezTo>
                    <a:pt x="5495798" y="0"/>
                    <a:pt x="5603240" y="107442"/>
                    <a:pt x="5603240" y="239903"/>
                  </a:cubicBezTo>
                  <a:lnTo>
                    <a:pt x="5603240" y="2565273"/>
                  </a:lnTo>
                  <a:cubicBezTo>
                    <a:pt x="5603240" y="2697734"/>
                    <a:pt x="5495798" y="2805176"/>
                    <a:pt x="5363337" y="2805176"/>
                  </a:cubicBezTo>
                  <a:lnTo>
                    <a:pt x="239903" y="2805176"/>
                  </a:lnTo>
                  <a:cubicBezTo>
                    <a:pt x="107442" y="2805176"/>
                    <a:pt x="0" y="2697734"/>
                    <a:pt x="0" y="2565273"/>
                  </a:cubicBezTo>
                  <a:close/>
                </a:path>
              </a:pathLst>
            </a:custGeom>
            <a:solidFill>
              <a:srgbClr val="FFF2D8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2289536" y="5760720"/>
            <a:ext cx="3689604" cy="329184"/>
            <a:chOff x="0" y="0"/>
            <a:chExt cx="4919472" cy="43891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919472" cy="438912"/>
            </a:xfrm>
            <a:custGeom>
              <a:avLst/>
              <a:gdLst/>
              <a:ahLst/>
              <a:cxnLst/>
              <a:rect l="l" t="t" r="r" b="b"/>
              <a:pathLst>
                <a:path w="4919472" h="438912">
                  <a:moveTo>
                    <a:pt x="0" y="0"/>
                  </a:moveTo>
                  <a:lnTo>
                    <a:pt x="4919472" y="0"/>
                  </a:lnTo>
                  <a:lnTo>
                    <a:pt x="491947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8394" b="-168394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491947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Too large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2289793" y="6276851"/>
            <a:ext cx="3689099" cy="1198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The LLM may receive noisy or conflicting context unless reranking/filtering is applied.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042416" y="9710928"/>
            <a:ext cx="5486400" cy="219456"/>
            <a:chOff x="0" y="0"/>
            <a:chExt cx="7315200" cy="29260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315200" cy="292608"/>
            </a:xfrm>
            <a:custGeom>
              <a:avLst/>
              <a:gdLst/>
              <a:ahLst/>
              <a:cxnLst/>
              <a:rect l="l" t="t" r="r" b="b"/>
              <a:pathLst>
                <a:path w="7315200" h="292608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731520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4"/>
                </a:lnSpc>
              </a:pPr>
              <a:r>
                <a:rPr lang="en-US" sz="117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AI Clinical Decision Support Lite Hackathon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6527780" y="9642348"/>
            <a:ext cx="685800" cy="246888"/>
            <a:chOff x="0" y="0"/>
            <a:chExt cx="914400" cy="32918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914400" cy="329184"/>
            </a:xfrm>
            <a:custGeom>
              <a:avLst/>
              <a:gdLst/>
              <a:ahLst/>
              <a:cxnLst/>
              <a:rect l="l" t="t" r="r" b="b"/>
              <a:pathLst>
                <a:path w="914400" h="329184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75"/>
                </a:lnSpc>
              </a:pPr>
              <a:r>
                <a:rPr lang="en-US" sz="1230" b="1">
                  <a:solidFill>
                    <a:srgbClr val="5C6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pic>
        <p:nvPicPr>
          <p:cNvPr id="54" name="Google Shape;90;p1">
            <a:extLst>
              <a:ext uri="{FF2B5EF4-FFF2-40B4-BE49-F238E27FC236}">
                <a16:creationId xmlns:a16="http://schemas.microsoft.com/office/drawing/2014/main" id="{6B9AF3DA-E781-4EB2-8C3E-F7887EA63BE6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06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247960">
            <a:off x="382276" y="849820"/>
            <a:ext cx="1292857" cy="0"/>
          </a:xfrm>
          <a:prstGeom prst="line">
            <a:avLst/>
          </a:prstGeom>
          <a:ln w="28575" cap="rnd">
            <a:solidFill>
              <a:srgbClr val="15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576072"/>
            <a:ext cx="13441680" cy="617220"/>
            <a:chOff x="0" y="0"/>
            <a:chExt cx="17922240" cy="822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 2 — Tune chunk size and overlap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6736" y="1234440"/>
            <a:ext cx="12618720" cy="384048"/>
            <a:chOff x="0" y="0"/>
            <a:chExt cx="16824960" cy="512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24961" cy="512064"/>
            </a:xfrm>
            <a:custGeom>
              <a:avLst/>
              <a:gdLst/>
              <a:ahLst/>
              <a:cxnLst/>
              <a:rect l="l" t="t" r="r" b="b"/>
              <a:pathLst>
                <a:path w="16824961" h="512064">
                  <a:moveTo>
                    <a:pt x="0" y="0"/>
                  </a:moveTo>
                  <a:lnTo>
                    <a:pt x="16824961" y="0"/>
                  </a:lnTo>
                  <a:lnTo>
                    <a:pt x="168249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682496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Retrieval problems often come from chunks, not from the vector database.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2820">
            <a:off x="1022032" y="1682306"/>
            <a:ext cx="16266805" cy="0"/>
          </a:xfrm>
          <a:prstGeom prst="line">
            <a:avLst/>
          </a:prstGeom>
          <a:ln w="9525" cap="rnd">
            <a:solidFill>
              <a:srgbClr val="D8DE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303020" y="2125980"/>
            <a:ext cx="4800600" cy="384048"/>
            <a:chOff x="0" y="0"/>
            <a:chExt cx="6400800" cy="5120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00800" cy="512064"/>
            </a:xfrm>
            <a:custGeom>
              <a:avLst/>
              <a:gdLst/>
              <a:ahLst/>
              <a:cxnLst/>
              <a:rect l="l" t="t" r="r" b="b"/>
              <a:pathLst>
                <a:path w="6400800" h="512064">
                  <a:moveTo>
                    <a:pt x="0" y="0"/>
                  </a:moveTo>
                  <a:lnTo>
                    <a:pt x="6400800" y="0"/>
                  </a:lnTo>
                  <a:lnTo>
                    <a:pt x="6400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40080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9"/>
                </a:lnSpc>
              </a:pPr>
              <a:r>
                <a:rPr lang="en-US" sz="315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Chunk size trade-off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02270" y="3212783"/>
            <a:ext cx="3861435" cy="1090803"/>
            <a:chOff x="0" y="0"/>
            <a:chExt cx="5148580" cy="14544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148580" cy="1454404"/>
            </a:xfrm>
            <a:custGeom>
              <a:avLst/>
              <a:gdLst/>
              <a:ahLst/>
              <a:cxnLst/>
              <a:rect l="l" t="t" r="r" b="b"/>
              <a:pathLst>
                <a:path w="5148580" h="1454404">
                  <a:moveTo>
                    <a:pt x="0" y="223774"/>
                  </a:moveTo>
                  <a:cubicBezTo>
                    <a:pt x="0" y="100203"/>
                    <a:pt x="100203" y="0"/>
                    <a:pt x="223774" y="0"/>
                  </a:cubicBezTo>
                  <a:lnTo>
                    <a:pt x="4924806" y="0"/>
                  </a:lnTo>
                  <a:cubicBezTo>
                    <a:pt x="5048377" y="0"/>
                    <a:pt x="5148580" y="100203"/>
                    <a:pt x="5148580" y="223774"/>
                  </a:cubicBezTo>
                  <a:lnTo>
                    <a:pt x="5148580" y="1230630"/>
                  </a:lnTo>
                  <a:cubicBezTo>
                    <a:pt x="5148580" y="1354201"/>
                    <a:pt x="5048377" y="1454404"/>
                    <a:pt x="4924806" y="1454404"/>
                  </a:cubicBezTo>
                  <a:lnTo>
                    <a:pt x="223774" y="1454404"/>
                  </a:lnTo>
                  <a:cubicBezTo>
                    <a:pt x="100203" y="1454404"/>
                    <a:pt x="0" y="1354201"/>
                    <a:pt x="0" y="1230630"/>
                  </a:cubicBezTo>
                  <a:close/>
                </a:path>
              </a:pathLst>
            </a:custGeom>
            <a:solidFill>
              <a:srgbClr val="FDEBEC"/>
            </a:solidFill>
            <a:ln w="20955" cap="sq">
              <a:solidFill>
                <a:srgbClr val="D84C4C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591056" y="3374136"/>
            <a:ext cx="3483864" cy="822960"/>
            <a:chOff x="0" y="0"/>
            <a:chExt cx="4645152" cy="10972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645152" cy="1097280"/>
            </a:xfrm>
            <a:custGeom>
              <a:avLst/>
              <a:gdLst/>
              <a:ahLst/>
              <a:cxnLst/>
              <a:rect l="l" t="t" r="r" b="b"/>
              <a:pathLst>
                <a:path w="4645152" h="1097280">
                  <a:moveTo>
                    <a:pt x="0" y="0"/>
                  </a:moveTo>
                  <a:lnTo>
                    <a:pt x="4645152" y="0"/>
                  </a:lnTo>
                  <a:lnTo>
                    <a:pt x="4645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486" b="-3248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4645152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Small chunks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Precise but incomplete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28550" y="3212783"/>
            <a:ext cx="3861435" cy="1090803"/>
            <a:chOff x="0" y="0"/>
            <a:chExt cx="5148580" cy="14544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148580" cy="1454404"/>
            </a:xfrm>
            <a:custGeom>
              <a:avLst/>
              <a:gdLst/>
              <a:ahLst/>
              <a:cxnLst/>
              <a:rect l="l" t="t" r="r" b="b"/>
              <a:pathLst>
                <a:path w="5148580" h="1454404">
                  <a:moveTo>
                    <a:pt x="0" y="223774"/>
                  </a:moveTo>
                  <a:cubicBezTo>
                    <a:pt x="0" y="100203"/>
                    <a:pt x="100203" y="0"/>
                    <a:pt x="223774" y="0"/>
                  </a:cubicBezTo>
                  <a:lnTo>
                    <a:pt x="4924806" y="0"/>
                  </a:lnTo>
                  <a:cubicBezTo>
                    <a:pt x="5048377" y="0"/>
                    <a:pt x="5148580" y="100203"/>
                    <a:pt x="5148580" y="223774"/>
                  </a:cubicBezTo>
                  <a:lnTo>
                    <a:pt x="5148580" y="1230630"/>
                  </a:lnTo>
                  <a:cubicBezTo>
                    <a:pt x="5148580" y="1354201"/>
                    <a:pt x="5048377" y="1454404"/>
                    <a:pt x="4924806" y="1454404"/>
                  </a:cubicBezTo>
                  <a:lnTo>
                    <a:pt x="223774" y="1454404"/>
                  </a:lnTo>
                  <a:cubicBezTo>
                    <a:pt x="100203" y="1454404"/>
                    <a:pt x="0" y="1354201"/>
                    <a:pt x="0" y="1230630"/>
                  </a:cubicBezTo>
                  <a:close/>
                </a:path>
              </a:pathLst>
            </a:custGeom>
            <a:solidFill>
              <a:srgbClr val="EAFBF7"/>
            </a:solidFill>
            <a:ln w="20955" cap="sq">
              <a:solidFill>
                <a:srgbClr val="5FB49C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117336" y="3374136"/>
            <a:ext cx="3483864" cy="822960"/>
            <a:chOff x="0" y="0"/>
            <a:chExt cx="4645152" cy="10972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645152" cy="1097280"/>
            </a:xfrm>
            <a:custGeom>
              <a:avLst/>
              <a:gdLst/>
              <a:ahLst/>
              <a:cxnLst/>
              <a:rect l="l" t="t" r="r" b="b"/>
              <a:pathLst>
                <a:path w="4645152" h="1097280">
                  <a:moveTo>
                    <a:pt x="0" y="0"/>
                  </a:moveTo>
                  <a:lnTo>
                    <a:pt x="4645152" y="0"/>
                  </a:lnTo>
                  <a:lnTo>
                    <a:pt x="4645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486" b="-3248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4645152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Balanced chunks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Best starting point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54830" y="3212783"/>
            <a:ext cx="3861435" cy="1090803"/>
            <a:chOff x="0" y="0"/>
            <a:chExt cx="5148580" cy="145440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148580" cy="1454404"/>
            </a:xfrm>
            <a:custGeom>
              <a:avLst/>
              <a:gdLst/>
              <a:ahLst/>
              <a:cxnLst/>
              <a:rect l="l" t="t" r="r" b="b"/>
              <a:pathLst>
                <a:path w="5148580" h="1454404">
                  <a:moveTo>
                    <a:pt x="0" y="223774"/>
                  </a:moveTo>
                  <a:cubicBezTo>
                    <a:pt x="0" y="100203"/>
                    <a:pt x="100203" y="0"/>
                    <a:pt x="223774" y="0"/>
                  </a:cubicBezTo>
                  <a:lnTo>
                    <a:pt x="4924806" y="0"/>
                  </a:lnTo>
                  <a:cubicBezTo>
                    <a:pt x="5048377" y="0"/>
                    <a:pt x="5148580" y="100203"/>
                    <a:pt x="5148580" y="223774"/>
                  </a:cubicBezTo>
                  <a:lnTo>
                    <a:pt x="5148580" y="1230630"/>
                  </a:lnTo>
                  <a:cubicBezTo>
                    <a:pt x="5148580" y="1354201"/>
                    <a:pt x="5048377" y="1454404"/>
                    <a:pt x="4924806" y="1454404"/>
                  </a:cubicBezTo>
                  <a:lnTo>
                    <a:pt x="223774" y="1454404"/>
                  </a:lnTo>
                  <a:cubicBezTo>
                    <a:pt x="100203" y="1454404"/>
                    <a:pt x="0" y="1354201"/>
                    <a:pt x="0" y="1230630"/>
                  </a:cubicBezTo>
                  <a:close/>
                </a:path>
              </a:pathLst>
            </a:custGeom>
            <a:solidFill>
              <a:srgbClr val="FFF2D8"/>
            </a:solidFill>
            <a:ln w="20955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0643616" y="3374136"/>
            <a:ext cx="3483864" cy="822960"/>
            <a:chOff x="0" y="0"/>
            <a:chExt cx="4645152" cy="10972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645152" cy="1097280"/>
            </a:xfrm>
            <a:custGeom>
              <a:avLst/>
              <a:gdLst/>
              <a:ahLst/>
              <a:cxnLst/>
              <a:rect l="l" t="t" r="r" b="b"/>
              <a:pathLst>
                <a:path w="4645152" h="1097280">
                  <a:moveTo>
                    <a:pt x="0" y="0"/>
                  </a:moveTo>
                  <a:lnTo>
                    <a:pt x="4645152" y="0"/>
                  </a:lnTo>
                  <a:lnTo>
                    <a:pt x="464515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486" b="-32486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4645152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Large chunks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1720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Complete but noisy</a:t>
              </a:r>
            </a:p>
          </p:txBody>
        </p:sp>
      </p:grpSp>
      <p:sp>
        <p:nvSpPr>
          <p:cNvPr id="31" name="AutoShape 31"/>
          <p:cNvSpPr/>
          <p:nvPr/>
        </p:nvSpPr>
        <p:spPr>
          <a:xfrm rot="230580">
            <a:off x="5404037" y="3753422"/>
            <a:ext cx="397897" cy="0"/>
          </a:xfrm>
          <a:prstGeom prst="line">
            <a:avLst/>
          </a:prstGeom>
          <a:ln w="9525" cap="rnd">
            <a:solidFill>
              <a:srgbClr val="5C667A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2" name="AutoShape 32"/>
          <p:cNvSpPr/>
          <p:nvPr/>
        </p:nvSpPr>
        <p:spPr>
          <a:xfrm rot="230580">
            <a:off x="9930317" y="3753422"/>
            <a:ext cx="397897" cy="0"/>
          </a:xfrm>
          <a:prstGeom prst="line">
            <a:avLst/>
          </a:prstGeom>
          <a:ln w="9525" cap="rnd">
            <a:solidFill>
              <a:srgbClr val="5C667A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3" name="Group 33"/>
          <p:cNvGrpSpPr/>
          <p:nvPr/>
        </p:nvGrpSpPr>
        <p:grpSpPr>
          <a:xfrm>
            <a:off x="1334643" y="5723763"/>
            <a:ext cx="4476750" cy="1911858"/>
            <a:chOff x="0" y="0"/>
            <a:chExt cx="5969000" cy="254914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969000" cy="2549144"/>
            </a:xfrm>
            <a:custGeom>
              <a:avLst/>
              <a:gdLst/>
              <a:ahLst/>
              <a:cxnLst/>
              <a:rect l="l" t="t" r="r" b="b"/>
              <a:pathLst>
                <a:path w="5969000" h="2549144">
                  <a:moveTo>
                    <a:pt x="0" y="240157"/>
                  </a:moveTo>
                  <a:cubicBezTo>
                    <a:pt x="0" y="107569"/>
                    <a:pt x="107569" y="0"/>
                    <a:pt x="240157" y="0"/>
                  </a:cubicBezTo>
                  <a:lnTo>
                    <a:pt x="5728843" y="0"/>
                  </a:lnTo>
                  <a:cubicBezTo>
                    <a:pt x="5861431" y="0"/>
                    <a:pt x="5969000" y="107569"/>
                    <a:pt x="5969000" y="240157"/>
                  </a:cubicBezTo>
                  <a:lnTo>
                    <a:pt x="5969000" y="2308987"/>
                  </a:lnTo>
                  <a:cubicBezTo>
                    <a:pt x="5969000" y="2441575"/>
                    <a:pt x="5861431" y="2549144"/>
                    <a:pt x="5728843" y="2549144"/>
                  </a:cubicBezTo>
                  <a:lnTo>
                    <a:pt x="240157" y="2549144"/>
                  </a:lnTo>
                  <a:cubicBezTo>
                    <a:pt x="107569" y="2549144"/>
                    <a:pt x="0" y="2441575"/>
                    <a:pt x="0" y="2308987"/>
                  </a:cubicBezTo>
                  <a:close/>
                </a:path>
              </a:pathLst>
            </a:custGeom>
            <a:solidFill>
              <a:srgbClr val="EAF3FF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591056" y="5939028"/>
            <a:ext cx="3963924" cy="329184"/>
            <a:chOff x="0" y="0"/>
            <a:chExt cx="5285232" cy="43891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285232" cy="438912"/>
            </a:xfrm>
            <a:custGeom>
              <a:avLst/>
              <a:gdLst/>
              <a:ahLst/>
              <a:cxnLst/>
              <a:rect l="l" t="t" r="r" b="b"/>
              <a:pathLst>
                <a:path w="5285232" h="438912">
                  <a:moveTo>
                    <a:pt x="0" y="0"/>
                  </a:moveTo>
                  <a:lnTo>
                    <a:pt x="5285232" y="0"/>
                  </a:lnTo>
                  <a:lnTo>
                    <a:pt x="52852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632" b="-18463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528523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Experiment A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591313" y="6455159"/>
            <a:ext cx="3963419" cy="1006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400–600 tokens with 10–15% overlap for recommendation-style sections.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683883" y="5723763"/>
            <a:ext cx="4476750" cy="1911858"/>
            <a:chOff x="0" y="0"/>
            <a:chExt cx="5969000" cy="254914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969000" cy="2549144"/>
            </a:xfrm>
            <a:custGeom>
              <a:avLst/>
              <a:gdLst/>
              <a:ahLst/>
              <a:cxnLst/>
              <a:rect l="l" t="t" r="r" b="b"/>
              <a:pathLst>
                <a:path w="5969000" h="2549144">
                  <a:moveTo>
                    <a:pt x="0" y="240157"/>
                  </a:moveTo>
                  <a:cubicBezTo>
                    <a:pt x="0" y="107569"/>
                    <a:pt x="107569" y="0"/>
                    <a:pt x="240157" y="0"/>
                  </a:cubicBezTo>
                  <a:lnTo>
                    <a:pt x="5728843" y="0"/>
                  </a:lnTo>
                  <a:cubicBezTo>
                    <a:pt x="5861431" y="0"/>
                    <a:pt x="5969000" y="107569"/>
                    <a:pt x="5969000" y="240157"/>
                  </a:cubicBezTo>
                  <a:lnTo>
                    <a:pt x="5969000" y="2308987"/>
                  </a:lnTo>
                  <a:cubicBezTo>
                    <a:pt x="5969000" y="2441575"/>
                    <a:pt x="5861431" y="2549144"/>
                    <a:pt x="5728843" y="2549144"/>
                  </a:cubicBezTo>
                  <a:lnTo>
                    <a:pt x="240157" y="2549144"/>
                  </a:lnTo>
                  <a:cubicBezTo>
                    <a:pt x="107569" y="2549144"/>
                    <a:pt x="0" y="2441575"/>
                    <a:pt x="0" y="2308987"/>
                  </a:cubicBezTo>
                  <a:close/>
                </a:path>
              </a:pathLst>
            </a:custGeom>
            <a:solidFill>
              <a:srgbClr val="EAFBF7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6940296" y="5939028"/>
            <a:ext cx="3963924" cy="329184"/>
            <a:chOff x="0" y="0"/>
            <a:chExt cx="5285232" cy="4389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285232" cy="438912"/>
            </a:xfrm>
            <a:custGeom>
              <a:avLst/>
              <a:gdLst/>
              <a:ahLst/>
              <a:cxnLst/>
              <a:rect l="l" t="t" r="r" b="b"/>
              <a:pathLst>
                <a:path w="5285232" h="438912">
                  <a:moveTo>
                    <a:pt x="0" y="0"/>
                  </a:moveTo>
                  <a:lnTo>
                    <a:pt x="5285232" y="0"/>
                  </a:lnTo>
                  <a:lnTo>
                    <a:pt x="52852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632" b="-184632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528523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Experiment B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940553" y="6455159"/>
            <a:ext cx="3963419" cy="1006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700–900 tokens when the guideline uses long paragraphs or tables.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2033123" y="5723763"/>
            <a:ext cx="4202430" cy="1911858"/>
            <a:chOff x="0" y="0"/>
            <a:chExt cx="5603240" cy="254914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603240" cy="2549144"/>
            </a:xfrm>
            <a:custGeom>
              <a:avLst/>
              <a:gdLst/>
              <a:ahLst/>
              <a:cxnLst/>
              <a:rect l="l" t="t" r="r" b="b"/>
              <a:pathLst>
                <a:path w="5603240" h="2549144">
                  <a:moveTo>
                    <a:pt x="0" y="240157"/>
                  </a:moveTo>
                  <a:cubicBezTo>
                    <a:pt x="0" y="107569"/>
                    <a:pt x="107569" y="0"/>
                    <a:pt x="240157" y="0"/>
                  </a:cubicBezTo>
                  <a:lnTo>
                    <a:pt x="5363083" y="0"/>
                  </a:lnTo>
                  <a:cubicBezTo>
                    <a:pt x="5495671" y="0"/>
                    <a:pt x="5603240" y="107569"/>
                    <a:pt x="5603240" y="240157"/>
                  </a:cubicBezTo>
                  <a:lnTo>
                    <a:pt x="5603240" y="2308987"/>
                  </a:lnTo>
                  <a:cubicBezTo>
                    <a:pt x="5603240" y="2441575"/>
                    <a:pt x="5495671" y="2549144"/>
                    <a:pt x="5363083" y="2549144"/>
                  </a:cubicBezTo>
                  <a:lnTo>
                    <a:pt x="240157" y="2549144"/>
                  </a:lnTo>
                  <a:cubicBezTo>
                    <a:pt x="107569" y="2549144"/>
                    <a:pt x="0" y="2441575"/>
                    <a:pt x="0" y="2308987"/>
                  </a:cubicBezTo>
                  <a:close/>
                </a:path>
              </a:pathLst>
            </a:custGeom>
            <a:solidFill>
              <a:srgbClr val="FFF2D8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2289536" y="5939028"/>
            <a:ext cx="3689604" cy="329184"/>
            <a:chOff x="0" y="0"/>
            <a:chExt cx="4919472" cy="43891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919472" cy="438912"/>
            </a:xfrm>
            <a:custGeom>
              <a:avLst/>
              <a:gdLst/>
              <a:ahLst/>
              <a:cxnLst/>
              <a:rect l="l" t="t" r="r" b="b"/>
              <a:pathLst>
                <a:path w="4919472" h="438912">
                  <a:moveTo>
                    <a:pt x="0" y="0"/>
                  </a:moveTo>
                  <a:lnTo>
                    <a:pt x="4919472" y="0"/>
                  </a:lnTo>
                  <a:lnTo>
                    <a:pt x="491947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8394" b="-168394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491947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Decision rule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2289793" y="6455159"/>
            <a:ext cx="3689099" cy="1006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Choose the version that places the correct evidence highest across your test questions.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042416" y="9710928"/>
            <a:ext cx="5486400" cy="219456"/>
            <a:chOff x="0" y="0"/>
            <a:chExt cx="7315200" cy="29260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315200" cy="292608"/>
            </a:xfrm>
            <a:custGeom>
              <a:avLst/>
              <a:gdLst/>
              <a:ahLst/>
              <a:cxnLst/>
              <a:rect l="l" t="t" r="r" b="b"/>
              <a:pathLst>
                <a:path w="7315200" h="292608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731520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4"/>
                </a:lnSpc>
              </a:pPr>
              <a:r>
                <a:rPr lang="en-US" sz="117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AI Clinical Decision Support Lite Hackathon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6527780" y="9642348"/>
            <a:ext cx="685800" cy="246888"/>
            <a:chOff x="0" y="0"/>
            <a:chExt cx="914400" cy="32918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14400" cy="329184"/>
            </a:xfrm>
            <a:custGeom>
              <a:avLst/>
              <a:gdLst/>
              <a:ahLst/>
              <a:cxnLst/>
              <a:rect l="l" t="t" r="r" b="b"/>
              <a:pathLst>
                <a:path w="914400" h="329184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75"/>
                </a:lnSpc>
              </a:pPr>
              <a:r>
                <a:rPr lang="en-US" sz="1230" b="1">
                  <a:solidFill>
                    <a:srgbClr val="5C6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07</a:t>
              </a:r>
            </a:p>
          </p:txBody>
        </p:sp>
      </p:grpSp>
      <p:pic>
        <p:nvPicPr>
          <p:cNvPr id="57" name="Google Shape;90;p1">
            <a:extLst>
              <a:ext uri="{FF2B5EF4-FFF2-40B4-BE49-F238E27FC236}">
                <a16:creationId xmlns:a16="http://schemas.microsoft.com/office/drawing/2014/main" id="{1CAD068E-38A0-4C72-A07C-8B4A2EAFF83A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06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247960">
            <a:off x="382276" y="849820"/>
            <a:ext cx="1292857" cy="0"/>
          </a:xfrm>
          <a:prstGeom prst="line">
            <a:avLst/>
          </a:prstGeom>
          <a:ln w="28575" cap="rnd">
            <a:solidFill>
              <a:srgbClr val="15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576072"/>
            <a:ext cx="13441680" cy="617220"/>
            <a:chOff x="0" y="0"/>
            <a:chExt cx="17922240" cy="822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 3 — Compare retrieval strategies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6736" y="1234440"/>
            <a:ext cx="12618720" cy="384048"/>
            <a:chOff x="0" y="0"/>
            <a:chExt cx="16824960" cy="512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24961" cy="512064"/>
            </a:xfrm>
            <a:custGeom>
              <a:avLst/>
              <a:gdLst/>
              <a:ahLst/>
              <a:cxnLst/>
              <a:rect l="l" t="t" r="r" b="b"/>
              <a:pathLst>
                <a:path w="16824961" h="512064">
                  <a:moveTo>
                    <a:pt x="0" y="0"/>
                  </a:moveTo>
                  <a:lnTo>
                    <a:pt x="16824961" y="0"/>
                  </a:lnTo>
                  <a:lnTo>
                    <a:pt x="168249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682496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Students should understand the difference between semantic, keyword, hybrid, and reranked retrieval.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2820">
            <a:off x="1022032" y="1682306"/>
            <a:ext cx="16266805" cy="0"/>
          </a:xfrm>
          <a:prstGeom prst="line">
            <a:avLst/>
          </a:prstGeom>
          <a:ln w="9525" cap="rnd">
            <a:solidFill>
              <a:srgbClr val="D8DE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128903" y="2020443"/>
            <a:ext cx="3859530" cy="6191250"/>
            <a:chOff x="0" y="0"/>
            <a:chExt cx="5146040" cy="8255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46040" cy="8255000"/>
            </a:xfrm>
            <a:custGeom>
              <a:avLst/>
              <a:gdLst/>
              <a:ahLst/>
              <a:cxnLst/>
              <a:rect l="l" t="t" r="r" b="b"/>
              <a:pathLst>
                <a:path w="5146040" h="8255000">
                  <a:moveTo>
                    <a:pt x="0" y="238887"/>
                  </a:moveTo>
                  <a:cubicBezTo>
                    <a:pt x="0" y="106934"/>
                    <a:pt x="106934" y="0"/>
                    <a:pt x="238887" y="0"/>
                  </a:cubicBezTo>
                  <a:lnTo>
                    <a:pt x="4907153" y="0"/>
                  </a:lnTo>
                  <a:cubicBezTo>
                    <a:pt x="5039106" y="0"/>
                    <a:pt x="5146040" y="106934"/>
                    <a:pt x="5146040" y="238887"/>
                  </a:cubicBezTo>
                  <a:lnTo>
                    <a:pt x="5146040" y="8016113"/>
                  </a:lnTo>
                  <a:cubicBezTo>
                    <a:pt x="5146040" y="8148066"/>
                    <a:pt x="5039106" y="8255000"/>
                    <a:pt x="4907153" y="8255000"/>
                  </a:cubicBezTo>
                  <a:lnTo>
                    <a:pt x="238887" y="8255000"/>
                  </a:lnTo>
                  <a:cubicBezTo>
                    <a:pt x="106934" y="8255000"/>
                    <a:pt x="0" y="8148066"/>
                    <a:pt x="0" y="8016113"/>
                  </a:cubicBezTo>
                  <a:close/>
                </a:path>
              </a:pathLst>
            </a:custGeom>
            <a:solidFill>
              <a:srgbClr val="EAF3FF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385316" y="2235708"/>
            <a:ext cx="3346704" cy="329184"/>
            <a:chOff x="0" y="0"/>
            <a:chExt cx="4462272" cy="4389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62272" cy="438912"/>
            </a:xfrm>
            <a:custGeom>
              <a:avLst/>
              <a:gdLst/>
              <a:ahLst/>
              <a:cxnLst/>
              <a:rect l="l" t="t" r="r" b="b"/>
              <a:pathLst>
                <a:path w="4462272" h="438912">
                  <a:moveTo>
                    <a:pt x="0" y="0"/>
                  </a:moveTo>
                  <a:lnTo>
                    <a:pt x="4462272" y="0"/>
                  </a:lnTo>
                  <a:lnTo>
                    <a:pt x="446227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097" b="-14809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446227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Semantic search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85573" y="2751839"/>
            <a:ext cx="3346199" cy="5285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Finds meaning similarity using embeddings.</a:t>
            </a:r>
          </a:p>
          <a:p>
            <a:pPr algn="l">
              <a:lnSpc>
                <a:spcPts val="1854"/>
              </a:lnSpc>
            </a:pPr>
            <a:endParaRPr lang="en-US" sz="1545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Strong for paraphrases.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May miss exact medical terms or abbreviations.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380863" y="2020443"/>
            <a:ext cx="3859530" cy="6191250"/>
            <a:chOff x="0" y="0"/>
            <a:chExt cx="5146040" cy="8255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46040" cy="8255000"/>
            </a:xfrm>
            <a:custGeom>
              <a:avLst/>
              <a:gdLst/>
              <a:ahLst/>
              <a:cxnLst/>
              <a:rect l="l" t="t" r="r" b="b"/>
              <a:pathLst>
                <a:path w="5146040" h="8255000">
                  <a:moveTo>
                    <a:pt x="0" y="238887"/>
                  </a:moveTo>
                  <a:cubicBezTo>
                    <a:pt x="0" y="106934"/>
                    <a:pt x="106934" y="0"/>
                    <a:pt x="238887" y="0"/>
                  </a:cubicBezTo>
                  <a:lnTo>
                    <a:pt x="4907153" y="0"/>
                  </a:lnTo>
                  <a:cubicBezTo>
                    <a:pt x="5039106" y="0"/>
                    <a:pt x="5146040" y="106934"/>
                    <a:pt x="5146040" y="238887"/>
                  </a:cubicBezTo>
                  <a:lnTo>
                    <a:pt x="5146040" y="8016113"/>
                  </a:lnTo>
                  <a:cubicBezTo>
                    <a:pt x="5146040" y="8148066"/>
                    <a:pt x="5039106" y="8255000"/>
                    <a:pt x="4907153" y="8255000"/>
                  </a:cubicBezTo>
                  <a:lnTo>
                    <a:pt x="238887" y="8255000"/>
                  </a:lnTo>
                  <a:cubicBezTo>
                    <a:pt x="106934" y="8255000"/>
                    <a:pt x="0" y="8148066"/>
                    <a:pt x="0" y="8016113"/>
                  </a:cubicBezTo>
                  <a:close/>
                </a:path>
              </a:pathLst>
            </a:custGeom>
            <a:solidFill>
              <a:srgbClr val="FFF2D8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637276" y="2235708"/>
            <a:ext cx="3346704" cy="329184"/>
            <a:chOff x="0" y="0"/>
            <a:chExt cx="4462272" cy="4389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462272" cy="438912"/>
            </a:xfrm>
            <a:custGeom>
              <a:avLst/>
              <a:gdLst/>
              <a:ahLst/>
              <a:cxnLst/>
              <a:rect l="l" t="t" r="r" b="b"/>
              <a:pathLst>
                <a:path w="4462272" h="438912">
                  <a:moveTo>
                    <a:pt x="0" y="0"/>
                  </a:moveTo>
                  <a:lnTo>
                    <a:pt x="4462272" y="0"/>
                  </a:lnTo>
                  <a:lnTo>
                    <a:pt x="446227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097" b="-14809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446227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Keyword search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637533" y="2751839"/>
            <a:ext cx="3346199" cy="5285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Finds exact terms.</a:t>
            </a:r>
          </a:p>
          <a:p>
            <a:pPr algn="l">
              <a:lnSpc>
                <a:spcPts val="1854"/>
              </a:lnSpc>
            </a:pPr>
            <a:endParaRPr lang="en-US" sz="1545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Strong for drug names, acronyms, grades, and thresholds.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Weak for paraphrased questions.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632823" y="2020443"/>
            <a:ext cx="3859530" cy="6191250"/>
            <a:chOff x="0" y="0"/>
            <a:chExt cx="5146040" cy="8255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146040" cy="8255000"/>
            </a:xfrm>
            <a:custGeom>
              <a:avLst/>
              <a:gdLst/>
              <a:ahLst/>
              <a:cxnLst/>
              <a:rect l="l" t="t" r="r" b="b"/>
              <a:pathLst>
                <a:path w="5146040" h="8255000">
                  <a:moveTo>
                    <a:pt x="0" y="238887"/>
                  </a:moveTo>
                  <a:cubicBezTo>
                    <a:pt x="0" y="106934"/>
                    <a:pt x="106934" y="0"/>
                    <a:pt x="238887" y="0"/>
                  </a:cubicBezTo>
                  <a:lnTo>
                    <a:pt x="4907153" y="0"/>
                  </a:lnTo>
                  <a:cubicBezTo>
                    <a:pt x="5039106" y="0"/>
                    <a:pt x="5146040" y="106934"/>
                    <a:pt x="5146040" y="238887"/>
                  </a:cubicBezTo>
                  <a:lnTo>
                    <a:pt x="5146040" y="8016113"/>
                  </a:lnTo>
                  <a:cubicBezTo>
                    <a:pt x="5146040" y="8148066"/>
                    <a:pt x="5039106" y="8255000"/>
                    <a:pt x="4907153" y="8255000"/>
                  </a:cubicBezTo>
                  <a:lnTo>
                    <a:pt x="238887" y="8255000"/>
                  </a:lnTo>
                  <a:cubicBezTo>
                    <a:pt x="106934" y="8255000"/>
                    <a:pt x="0" y="8148066"/>
                    <a:pt x="0" y="8016113"/>
                  </a:cubicBezTo>
                  <a:close/>
                </a:path>
              </a:pathLst>
            </a:custGeom>
            <a:solidFill>
              <a:srgbClr val="EAFBF7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889236" y="2235708"/>
            <a:ext cx="3346704" cy="329184"/>
            <a:chOff x="0" y="0"/>
            <a:chExt cx="4462272" cy="4389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462272" cy="438912"/>
            </a:xfrm>
            <a:custGeom>
              <a:avLst/>
              <a:gdLst/>
              <a:ahLst/>
              <a:cxnLst/>
              <a:rect l="l" t="t" r="r" b="b"/>
              <a:pathLst>
                <a:path w="4462272" h="438912">
                  <a:moveTo>
                    <a:pt x="0" y="0"/>
                  </a:moveTo>
                  <a:lnTo>
                    <a:pt x="4462272" y="0"/>
                  </a:lnTo>
                  <a:lnTo>
                    <a:pt x="446227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8097" b="-148097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446227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Hybrid search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889493" y="2751839"/>
            <a:ext cx="3346199" cy="5285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Combines semantic and keyword signals.</a:t>
            </a:r>
          </a:p>
          <a:p>
            <a:pPr algn="l">
              <a:lnSpc>
                <a:spcPts val="1854"/>
              </a:lnSpc>
            </a:pPr>
            <a:endParaRPr lang="en-US" sz="1545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Often better for clinical guidelines with exact terminology.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3884783" y="2020443"/>
            <a:ext cx="3283458" cy="6191250"/>
            <a:chOff x="0" y="0"/>
            <a:chExt cx="4377944" cy="8255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377944" cy="8255000"/>
            </a:xfrm>
            <a:custGeom>
              <a:avLst/>
              <a:gdLst/>
              <a:ahLst/>
              <a:cxnLst/>
              <a:rect l="l" t="t" r="r" b="b"/>
              <a:pathLst>
                <a:path w="4377944" h="8255000">
                  <a:moveTo>
                    <a:pt x="0" y="239141"/>
                  </a:moveTo>
                  <a:cubicBezTo>
                    <a:pt x="0" y="107061"/>
                    <a:pt x="107061" y="0"/>
                    <a:pt x="239141" y="0"/>
                  </a:cubicBezTo>
                  <a:lnTo>
                    <a:pt x="4138803" y="0"/>
                  </a:lnTo>
                  <a:cubicBezTo>
                    <a:pt x="4270883" y="0"/>
                    <a:pt x="4377944" y="107061"/>
                    <a:pt x="4377944" y="239141"/>
                  </a:cubicBezTo>
                  <a:lnTo>
                    <a:pt x="4377944" y="8015859"/>
                  </a:lnTo>
                  <a:cubicBezTo>
                    <a:pt x="4377944" y="8147939"/>
                    <a:pt x="4270883" y="8255000"/>
                    <a:pt x="4138803" y="8255000"/>
                  </a:cubicBezTo>
                  <a:lnTo>
                    <a:pt x="239141" y="8255000"/>
                  </a:lnTo>
                  <a:cubicBezTo>
                    <a:pt x="107061" y="8255000"/>
                    <a:pt x="0" y="8147939"/>
                    <a:pt x="0" y="8015859"/>
                  </a:cubicBezTo>
                  <a:close/>
                </a:path>
              </a:pathLst>
            </a:custGeom>
            <a:solidFill>
              <a:srgbClr val="F6F8FB"/>
            </a:solidFill>
            <a:ln w="19050" cap="sq">
              <a:solidFill>
                <a:srgbClr val="5FB49C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4141196" y="2235708"/>
            <a:ext cx="2770632" cy="329184"/>
            <a:chOff x="0" y="0"/>
            <a:chExt cx="3694176" cy="43891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694176" cy="438912"/>
            </a:xfrm>
            <a:custGeom>
              <a:avLst/>
              <a:gdLst/>
              <a:ahLst/>
              <a:cxnLst/>
              <a:rect l="l" t="t" r="r" b="b"/>
              <a:pathLst>
                <a:path w="3694176" h="438912">
                  <a:moveTo>
                    <a:pt x="0" y="0"/>
                  </a:moveTo>
                  <a:lnTo>
                    <a:pt x="3694176" y="0"/>
                  </a:lnTo>
                  <a:lnTo>
                    <a:pt x="369417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999" b="-113999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3694176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Reranking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4141453" y="2751839"/>
            <a:ext cx="2770127" cy="5285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Reorders retrieved candidates using a stronger relevance model.</a:t>
            </a:r>
          </a:p>
          <a:p>
            <a:pPr algn="l">
              <a:lnSpc>
                <a:spcPts val="1854"/>
              </a:lnSpc>
            </a:pPr>
            <a:endParaRPr lang="en-US" sz="1545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Good bonus if stable.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42416" y="9710928"/>
            <a:ext cx="5486400" cy="219456"/>
            <a:chOff x="0" y="0"/>
            <a:chExt cx="7315200" cy="29260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315200" cy="292608"/>
            </a:xfrm>
            <a:custGeom>
              <a:avLst/>
              <a:gdLst/>
              <a:ahLst/>
              <a:cxnLst/>
              <a:rect l="l" t="t" r="r" b="b"/>
              <a:pathLst>
                <a:path w="7315200" h="292608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731520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4"/>
                </a:lnSpc>
              </a:pPr>
              <a:r>
                <a:rPr lang="en-US" sz="117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AI Clinical Decision Support Lite Hackathon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6527780" y="9642348"/>
            <a:ext cx="685800" cy="246888"/>
            <a:chOff x="0" y="0"/>
            <a:chExt cx="914400" cy="32918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14400" cy="329184"/>
            </a:xfrm>
            <a:custGeom>
              <a:avLst/>
              <a:gdLst/>
              <a:ahLst/>
              <a:cxnLst/>
              <a:rect l="l" t="t" r="r" b="b"/>
              <a:pathLst>
                <a:path w="914400" h="329184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75"/>
                </a:lnSpc>
              </a:pPr>
              <a:r>
                <a:rPr lang="en-US" sz="1230" b="1">
                  <a:solidFill>
                    <a:srgbClr val="5C6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08</a:t>
              </a:r>
            </a:p>
          </p:txBody>
        </p:sp>
      </p:grpSp>
      <p:pic>
        <p:nvPicPr>
          <p:cNvPr id="43" name="Google Shape;90;p1">
            <a:extLst>
              <a:ext uri="{FF2B5EF4-FFF2-40B4-BE49-F238E27FC236}">
                <a16:creationId xmlns:a16="http://schemas.microsoft.com/office/drawing/2014/main" id="{5E51DE97-3AB8-45F1-9F06-DB81540BF289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06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247960">
            <a:off x="382276" y="849820"/>
            <a:ext cx="1292857" cy="0"/>
          </a:xfrm>
          <a:prstGeom prst="line">
            <a:avLst/>
          </a:prstGeom>
          <a:ln w="28575" cap="rnd">
            <a:solidFill>
              <a:srgbClr val="15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576072"/>
            <a:ext cx="13441680" cy="617220"/>
            <a:chOff x="0" y="0"/>
            <a:chExt cx="17922240" cy="822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 4 — Build a mini evaluation set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6736" y="1234440"/>
            <a:ext cx="12618720" cy="384048"/>
            <a:chOff x="0" y="0"/>
            <a:chExt cx="16824960" cy="512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24961" cy="512064"/>
            </a:xfrm>
            <a:custGeom>
              <a:avLst/>
              <a:gdLst/>
              <a:ahLst/>
              <a:cxnLst/>
              <a:rect l="l" t="t" r="r" b="b"/>
              <a:pathLst>
                <a:path w="16824961" h="512064">
                  <a:moveTo>
                    <a:pt x="0" y="0"/>
                  </a:moveTo>
                  <a:lnTo>
                    <a:pt x="16824961" y="0"/>
                  </a:lnTo>
                  <a:lnTo>
                    <a:pt x="168249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682496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Retrieval quality must be measured, not guessed.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2820">
            <a:off x="1022032" y="1682306"/>
            <a:ext cx="16266805" cy="0"/>
          </a:xfrm>
          <a:prstGeom prst="line">
            <a:avLst/>
          </a:prstGeom>
          <a:ln w="9525" cap="rnd">
            <a:solidFill>
              <a:srgbClr val="D8DE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156335" y="2116455"/>
            <a:ext cx="4751070" cy="5848350"/>
            <a:chOff x="0" y="0"/>
            <a:chExt cx="6334760" cy="7797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34760" cy="7797800"/>
            </a:xfrm>
            <a:custGeom>
              <a:avLst/>
              <a:gdLst/>
              <a:ahLst/>
              <a:cxnLst/>
              <a:rect l="l" t="t" r="r" b="b"/>
              <a:pathLst>
                <a:path w="6334760" h="7797800">
                  <a:moveTo>
                    <a:pt x="0" y="238633"/>
                  </a:moveTo>
                  <a:cubicBezTo>
                    <a:pt x="0" y="106807"/>
                    <a:pt x="106807" y="0"/>
                    <a:pt x="238633" y="0"/>
                  </a:cubicBezTo>
                  <a:lnTo>
                    <a:pt x="6096127" y="0"/>
                  </a:lnTo>
                  <a:cubicBezTo>
                    <a:pt x="6227953" y="0"/>
                    <a:pt x="6334760" y="106807"/>
                    <a:pt x="6334760" y="238633"/>
                  </a:cubicBezTo>
                  <a:lnTo>
                    <a:pt x="6334760" y="7559167"/>
                  </a:lnTo>
                  <a:cubicBezTo>
                    <a:pt x="6334760" y="7690993"/>
                    <a:pt x="6227953" y="7797800"/>
                    <a:pt x="6096127" y="7797800"/>
                  </a:cubicBezTo>
                  <a:lnTo>
                    <a:pt x="238633" y="7797800"/>
                  </a:lnTo>
                  <a:cubicBezTo>
                    <a:pt x="106807" y="7797800"/>
                    <a:pt x="0" y="7690993"/>
                    <a:pt x="0" y="7559167"/>
                  </a:cubicBezTo>
                  <a:close/>
                </a:path>
              </a:pathLst>
            </a:custGeom>
            <a:solidFill>
              <a:srgbClr val="EAF3FF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412748" y="2331720"/>
            <a:ext cx="4238244" cy="329184"/>
            <a:chOff x="0" y="0"/>
            <a:chExt cx="5650992" cy="4389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50992" cy="438912"/>
            </a:xfrm>
            <a:custGeom>
              <a:avLst/>
              <a:gdLst/>
              <a:ahLst/>
              <a:cxnLst/>
              <a:rect l="l" t="t" r="r" b="b"/>
              <a:pathLst>
                <a:path w="5650992" h="438912">
                  <a:moveTo>
                    <a:pt x="0" y="0"/>
                  </a:moveTo>
                  <a:lnTo>
                    <a:pt x="5650992" y="0"/>
                  </a:lnTo>
                  <a:lnTo>
                    <a:pt x="565099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869" b="-200869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565099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Create 15–20 questions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13005" y="2847851"/>
            <a:ext cx="4237739" cy="4942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Include: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direct questions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paraphrased questions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abbreviation questions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threshold questions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out-of-scope questions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738747" y="2116455"/>
            <a:ext cx="4751070" cy="5848350"/>
            <a:chOff x="0" y="0"/>
            <a:chExt cx="6334760" cy="7797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34760" cy="7797800"/>
            </a:xfrm>
            <a:custGeom>
              <a:avLst/>
              <a:gdLst/>
              <a:ahLst/>
              <a:cxnLst/>
              <a:rect l="l" t="t" r="r" b="b"/>
              <a:pathLst>
                <a:path w="6334760" h="7797800">
                  <a:moveTo>
                    <a:pt x="0" y="238633"/>
                  </a:moveTo>
                  <a:cubicBezTo>
                    <a:pt x="0" y="106807"/>
                    <a:pt x="106807" y="0"/>
                    <a:pt x="238633" y="0"/>
                  </a:cubicBezTo>
                  <a:lnTo>
                    <a:pt x="6096127" y="0"/>
                  </a:lnTo>
                  <a:cubicBezTo>
                    <a:pt x="6227953" y="0"/>
                    <a:pt x="6334760" y="106807"/>
                    <a:pt x="6334760" y="238633"/>
                  </a:cubicBezTo>
                  <a:lnTo>
                    <a:pt x="6334760" y="7559167"/>
                  </a:lnTo>
                  <a:cubicBezTo>
                    <a:pt x="6334760" y="7690993"/>
                    <a:pt x="6227953" y="7797800"/>
                    <a:pt x="6096127" y="7797800"/>
                  </a:cubicBezTo>
                  <a:lnTo>
                    <a:pt x="238633" y="7797800"/>
                  </a:lnTo>
                  <a:cubicBezTo>
                    <a:pt x="106807" y="7797800"/>
                    <a:pt x="0" y="7690993"/>
                    <a:pt x="0" y="7559167"/>
                  </a:cubicBezTo>
                  <a:close/>
                </a:path>
              </a:pathLst>
            </a:custGeom>
            <a:solidFill>
              <a:srgbClr val="EAFBF7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995160" y="2331720"/>
            <a:ext cx="4238244" cy="329184"/>
            <a:chOff x="0" y="0"/>
            <a:chExt cx="5650992" cy="4389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50992" cy="438912"/>
            </a:xfrm>
            <a:custGeom>
              <a:avLst/>
              <a:gdLst/>
              <a:ahLst/>
              <a:cxnLst/>
              <a:rect l="l" t="t" r="r" b="b"/>
              <a:pathLst>
                <a:path w="5650992" h="438912">
                  <a:moveTo>
                    <a:pt x="0" y="0"/>
                  </a:moveTo>
                  <a:lnTo>
                    <a:pt x="5650992" y="0"/>
                  </a:lnTo>
                  <a:lnTo>
                    <a:pt x="565099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869" b="-200869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565099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Label expected evidence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995417" y="2847851"/>
            <a:ext cx="4237739" cy="4942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For each question, record: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expected document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page or section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relevant chunk ID if known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reason it is relevant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307443" y="2116455"/>
            <a:ext cx="4271010" cy="5848350"/>
            <a:chOff x="0" y="0"/>
            <a:chExt cx="5694680" cy="7797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694680" cy="7797800"/>
            </a:xfrm>
            <a:custGeom>
              <a:avLst/>
              <a:gdLst/>
              <a:ahLst/>
              <a:cxnLst/>
              <a:rect l="l" t="t" r="r" b="b"/>
              <a:pathLst>
                <a:path w="5694680" h="7797800">
                  <a:moveTo>
                    <a:pt x="0" y="238887"/>
                  </a:moveTo>
                  <a:cubicBezTo>
                    <a:pt x="0" y="106934"/>
                    <a:pt x="106934" y="0"/>
                    <a:pt x="238887" y="0"/>
                  </a:cubicBezTo>
                  <a:lnTo>
                    <a:pt x="5455793" y="0"/>
                  </a:lnTo>
                  <a:cubicBezTo>
                    <a:pt x="5587746" y="0"/>
                    <a:pt x="5694680" y="106934"/>
                    <a:pt x="5694680" y="238887"/>
                  </a:cubicBezTo>
                  <a:lnTo>
                    <a:pt x="5694680" y="7558913"/>
                  </a:lnTo>
                  <a:cubicBezTo>
                    <a:pt x="5694680" y="7690866"/>
                    <a:pt x="5587746" y="7797800"/>
                    <a:pt x="5455793" y="7797800"/>
                  </a:cubicBezTo>
                  <a:lnTo>
                    <a:pt x="238887" y="7797800"/>
                  </a:lnTo>
                  <a:cubicBezTo>
                    <a:pt x="106934" y="7797800"/>
                    <a:pt x="0" y="7690866"/>
                    <a:pt x="0" y="7558913"/>
                  </a:cubicBezTo>
                  <a:close/>
                </a:path>
              </a:pathLst>
            </a:custGeom>
            <a:solidFill>
              <a:srgbClr val="FFF2D8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563856" y="2331720"/>
            <a:ext cx="3758184" cy="329184"/>
            <a:chOff x="0" y="0"/>
            <a:chExt cx="5010912" cy="4389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010912" cy="438912"/>
            </a:xfrm>
            <a:custGeom>
              <a:avLst/>
              <a:gdLst/>
              <a:ahLst/>
              <a:cxnLst/>
              <a:rect l="l" t="t" r="r" b="b"/>
              <a:pathLst>
                <a:path w="5010912" h="438912">
                  <a:moveTo>
                    <a:pt x="0" y="0"/>
                  </a:moveTo>
                  <a:lnTo>
                    <a:pt x="5010912" y="0"/>
                  </a:lnTo>
                  <a:lnTo>
                    <a:pt x="5010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454" b="-172454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501091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 for tuning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564113" y="2847851"/>
            <a:ext cx="3757679" cy="4942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Run the same questions after each retrieval change.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Keep what improves measurable results.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577340" y="8476488"/>
            <a:ext cx="14813280" cy="384048"/>
            <a:chOff x="0" y="0"/>
            <a:chExt cx="19751040" cy="51206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751039" cy="512064"/>
            </a:xfrm>
            <a:custGeom>
              <a:avLst/>
              <a:gdLst/>
              <a:ahLst/>
              <a:cxnLst/>
              <a:rect l="l" t="t" r="r" b="b"/>
              <a:pathLst>
                <a:path w="19751039" h="512064">
                  <a:moveTo>
                    <a:pt x="0" y="0"/>
                  </a:moveTo>
                  <a:lnTo>
                    <a:pt x="19751039" y="0"/>
                  </a:lnTo>
                  <a:lnTo>
                    <a:pt x="19751039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1565" b="-701565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19751040" cy="521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 not change many variables at once. Tune one thing, measure, then decide.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42416" y="9710928"/>
            <a:ext cx="5486400" cy="219456"/>
            <a:chOff x="0" y="0"/>
            <a:chExt cx="7315200" cy="29260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315200" cy="292608"/>
            </a:xfrm>
            <a:custGeom>
              <a:avLst/>
              <a:gdLst/>
              <a:ahLst/>
              <a:cxnLst/>
              <a:rect l="l" t="t" r="r" b="b"/>
              <a:pathLst>
                <a:path w="7315200" h="292608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731520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4"/>
                </a:lnSpc>
              </a:pPr>
              <a:r>
                <a:rPr lang="en-US" sz="117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AI Clinical Decision Support Lite Hackathon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527780" y="9642348"/>
            <a:ext cx="685800" cy="246888"/>
            <a:chOff x="0" y="0"/>
            <a:chExt cx="914400" cy="32918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14400" cy="329184"/>
            </a:xfrm>
            <a:custGeom>
              <a:avLst/>
              <a:gdLst/>
              <a:ahLst/>
              <a:cxnLst/>
              <a:rect l="l" t="t" r="r" b="b"/>
              <a:pathLst>
                <a:path w="914400" h="329184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75"/>
                </a:lnSpc>
              </a:pPr>
              <a:r>
                <a:rPr lang="en-US" sz="1230" b="1">
                  <a:solidFill>
                    <a:srgbClr val="5C6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09</a:t>
              </a:r>
            </a:p>
          </p:txBody>
        </p:sp>
      </p:grpSp>
      <p:pic>
        <p:nvPicPr>
          <p:cNvPr id="40" name="Google Shape;90;p1">
            <a:extLst>
              <a:ext uri="{FF2B5EF4-FFF2-40B4-BE49-F238E27FC236}">
                <a16:creationId xmlns:a16="http://schemas.microsoft.com/office/drawing/2014/main" id="{F7EC6CBF-DFD5-4A6A-8732-8AD69B813034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06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247960">
            <a:off x="382276" y="849820"/>
            <a:ext cx="1292857" cy="0"/>
          </a:xfrm>
          <a:prstGeom prst="line">
            <a:avLst/>
          </a:prstGeom>
          <a:ln w="28575" cap="rnd">
            <a:solidFill>
              <a:srgbClr val="15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576072"/>
            <a:ext cx="13441680" cy="617220"/>
            <a:chOff x="0" y="0"/>
            <a:chExt cx="17922240" cy="822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 5 — Measure Precision@K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6736" y="1234440"/>
            <a:ext cx="12618720" cy="384048"/>
            <a:chOff x="0" y="0"/>
            <a:chExt cx="16824960" cy="512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24961" cy="512064"/>
            </a:xfrm>
            <a:custGeom>
              <a:avLst/>
              <a:gdLst/>
              <a:ahLst/>
              <a:cxnLst/>
              <a:rect l="l" t="t" r="r" b="b"/>
              <a:pathLst>
                <a:path w="16824961" h="512064">
                  <a:moveTo>
                    <a:pt x="0" y="0"/>
                  </a:moveTo>
                  <a:lnTo>
                    <a:pt x="16824961" y="0"/>
                  </a:lnTo>
                  <a:lnTo>
                    <a:pt x="168249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682496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Precision@K shows how many retrieved chunks are actually relevant.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2820">
            <a:off x="1022032" y="1682306"/>
            <a:ext cx="16266805" cy="0"/>
          </a:xfrm>
          <a:prstGeom prst="line">
            <a:avLst/>
          </a:prstGeom>
          <a:ln w="9525" cap="rnd">
            <a:solidFill>
              <a:srgbClr val="D8DE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293495" y="2116455"/>
            <a:ext cx="7425690" cy="5848350"/>
            <a:chOff x="0" y="0"/>
            <a:chExt cx="9900920" cy="7797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900920" cy="7797800"/>
            </a:xfrm>
            <a:custGeom>
              <a:avLst/>
              <a:gdLst/>
              <a:ahLst/>
              <a:cxnLst/>
              <a:rect l="l" t="t" r="r" b="b"/>
              <a:pathLst>
                <a:path w="9900920" h="7797800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9680702" y="0"/>
                  </a:lnTo>
                  <a:cubicBezTo>
                    <a:pt x="9802368" y="0"/>
                    <a:pt x="9900920" y="98552"/>
                    <a:pt x="9900920" y="220218"/>
                  </a:cubicBezTo>
                  <a:lnTo>
                    <a:pt x="9900920" y="7577582"/>
                  </a:lnTo>
                  <a:cubicBezTo>
                    <a:pt x="9900920" y="7699248"/>
                    <a:pt x="9802368" y="7797800"/>
                    <a:pt x="9680702" y="7797800"/>
                  </a:cubicBezTo>
                  <a:lnTo>
                    <a:pt x="220218" y="7797800"/>
                  </a:lnTo>
                  <a:cubicBezTo>
                    <a:pt x="98552" y="7797800"/>
                    <a:pt x="0" y="7699248"/>
                    <a:pt x="0" y="7577582"/>
                  </a:cubicBezTo>
                  <a:close/>
                </a:path>
              </a:pathLst>
            </a:custGeom>
            <a:solidFill>
              <a:srgbClr val="F6F8FB"/>
            </a:solidFill>
            <a:ln w="19050" cap="sq">
              <a:solidFill>
                <a:srgbClr val="D8DEE9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645920" y="2551176"/>
            <a:ext cx="1920240" cy="329184"/>
            <a:chOff x="0" y="0"/>
            <a:chExt cx="2560320" cy="4389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60320" cy="438912"/>
            </a:xfrm>
            <a:custGeom>
              <a:avLst/>
              <a:gdLst/>
              <a:ahLst/>
              <a:cxnLst/>
              <a:rect l="l" t="t" r="r" b="b"/>
              <a:pathLst>
                <a:path w="2560320" h="438912">
                  <a:moveTo>
                    <a:pt x="0" y="0"/>
                  </a:moveTo>
                  <a:lnTo>
                    <a:pt x="2560320" y="0"/>
                  </a:lnTo>
                  <a:lnTo>
                    <a:pt x="25603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2560320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Formula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14500" y="3497580"/>
            <a:ext cx="6309360" cy="2047571"/>
            <a:chOff x="0" y="0"/>
            <a:chExt cx="8412480" cy="273009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412480" cy="2730095"/>
            </a:xfrm>
            <a:custGeom>
              <a:avLst/>
              <a:gdLst/>
              <a:ahLst/>
              <a:cxnLst/>
              <a:rect l="l" t="t" r="r" b="b"/>
              <a:pathLst>
                <a:path w="8412480" h="2730095">
                  <a:moveTo>
                    <a:pt x="0" y="0"/>
                  </a:moveTo>
                  <a:lnTo>
                    <a:pt x="8412480" y="0"/>
                  </a:lnTo>
                  <a:lnTo>
                    <a:pt x="8412480" y="2730095"/>
                  </a:lnTo>
                  <a:lnTo>
                    <a:pt x="0" y="27300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920" b="14839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8412480" cy="275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2F80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Precision@K =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2F80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Relevant retrieved chunks / K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14500" y="5829300"/>
            <a:ext cx="6309360" cy="658368"/>
            <a:chOff x="0" y="0"/>
            <a:chExt cx="8412480" cy="87782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412480" cy="877824"/>
            </a:xfrm>
            <a:custGeom>
              <a:avLst/>
              <a:gdLst/>
              <a:ahLst/>
              <a:cxnLst/>
              <a:rect l="l" t="t" r="r" b="b"/>
              <a:pathLst>
                <a:path w="8412480" h="877824">
                  <a:moveTo>
                    <a:pt x="0" y="0"/>
                  </a:moveTo>
                  <a:lnTo>
                    <a:pt x="8412480" y="0"/>
                  </a:lnTo>
                  <a:lnTo>
                    <a:pt x="8412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731" b="-13673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8412480" cy="8873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Example: if Top-5 contains 3 relevant chunks, Precision@5 = 3 / 5 = 0.60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728835" y="2294763"/>
            <a:ext cx="6534150" cy="1664970"/>
            <a:chOff x="0" y="0"/>
            <a:chExt cx="8712200" cy="22199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712200" cy="2219960"/>
            </a:xfrm>
            <a:custGeom>
              <a:avLst/>
              <a:gdLst/>
              <a:ahLst/>
              <a:cxnLst/>
              <a:rect l="l" t="t" r="r" b="b"/>
              <a:pathLst>
                <a:path w="8712200" h="2219960">
                  <a:moveTo>
                    <a:pt x="0" y="240538"/>
                  </a:moveTo>
                  <a:cubicBezTo>
                    <a:pt x="0" y="107696"/>
                    <a:pt x="107696" y="0"/>
                    <a:pt x="240538" y="0"/>
                  </a:cubicBezTo>
                  <a:lnTo>
                    <a:pt x="8471662" y="0"/>
                  </a:lnTo>
                  <a:cubicBezTo>
                    <a:pt x="8604504" y="0"/>
                    <a:pt x="8712200" y="107696"/>
                    <a:pt x="8712200" y="240538"/>
                  </a:cubicBezTo>
                  <a:lnTo>
                    <a:pt x="8712200" y="1979422"/>
                  </a:lnTo>
                  <a:cubicBezTo>
                    <a:pt x="8712200" y="2112264"/>
                    <a:pt x="8604504" y="2219960"/>
                    <a:pt x="8471662" y="2219960"/>
                  </a:cubicBezTo>
                  <a:lnTo>
                    <a:pt x="240538" y="2219960"/>
                  </a:lnTo>
                  <a:cubicBezTo>
                    <a:pt x="107696" y="2219960"/>
                    <a:pt x="0" y="2112264"/>
                    <a:pt x="0" y="1979422"/>
                  </a:cubicBezTo>
                  <a:close/>
                </a:path>
              </a:pathLst>
            </a:custGeom>
            <a:solidFill>
              <a:srgbClr val="EAFBF7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9985248" y="2510028"/>
            <a:ext cx="6021324" cy="329184"/>
            <a:chOff x="0" y="0"/>
            <a:chExt cx="8028432" cy="4389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028432" cy="438912"/>
            </a:xfrm>
            <a:custGeom>
              <a:avLst/>
              <a:gdLst/>
              <a:ahLst/>
              <a:cxnLst/>
              <a:rect l="l" t="t" r="r" b="b"/>
              <a:pathLst>
                <a:path w="8028432" h="438912">
                  <a:moveTo>
                    <a:pt x="0" y="0"/>
                  </a:moveTo>
                  <a:lnTo>
                    <a:pt x="8028432" y="0"/>
                  </a:lnTo>
                  <a:lnTo>
                    <a:pt x="8028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6413" b="-30641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802843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Manual validation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985505" y="3026159"/>
            <a:ext cx="6020819" cy="75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 human should mark each retrieved chunk as relevant or not relevant for the question.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728835" y="4557903"/>
            <a:ext cx="6534150" cy="1664970"/>
            <a:chOff x="0" y="0"/>
            <a:chExt cx="8712200" cy="22199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712200" cy="2219960"/>
            </a:xfrm>
            <a:custGeom>
              <a:avLst/>
              <a:gdLst/>
              <a:ahLst/>
              <a:cxnLst/>
              <a:rect l="l" t="t" r="r" b="b"/>
              <a:pathLst>
                <a:path w="8712200" h="2219960">
                  <a:moveTo>
                    <a:pt x="0" y="240538"/>
                  </a:moveTo>
                  <a:cubicBezTo>
                    <a:pt x="0" y="107696"/>
                    <a:pt x="107696" y="0"/>
                    <a:pt x="240538" y="0"/>
                  </a:cubicBezTo>
                  <a:lnTo>
                    <a:pt x="8471662" y="0"/>
                  </a:lnTo>
                  <a:cubicBezTo>
                    <a:pt x="8604504" y="0"/>
                    <a:pt x="8712200" y="107696"/>
                    <a:pt x="8712200" y="240538"/>
                  </a:cubicBezTo>
                  <a:lnTo>
                    <a:pt x="8712200" y="1979422"/>
                  </a:lnTo>
                  <a:cubicBezTo>
                    <a:pt x="8712200" y="2112264"/>
                    <a:pt x="8604504" y="2219960"/>
                    <a:pt x="8471662" y="2219960"/>
                  </a:cubicBezTo>
                  <a:lnTo>
                    <a:pt x="240538" y="2219960"/>
                  </a:lnTo>
                  <a:cubicBezTo>
                    <a:pt x="107696" y="2219960"/>
                    <a:pt x="0" y="2112264"/>
                    <a:pt x="0" y="1979422"/>
                  </a:cubicBezTo>
                  <a:close/>
                </a:path>
              </a:pathLst>
            </a:custGeom>
            <a:solidFill>
              <a:srgbClr val="FFF2D8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9985248" y="4773168"/>
            <a:ext cx="6021324" cy="329184"/>
            <a:chOff x="0" y="0"/>
            <a:chExt cx="8028432" cy="43891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028432" cy="438912"/>
            </a:xfrm>
            <a:custGeom>
              <a:avLst/>
              <a:gdLst/>
              <a:ahLst/>
              <a:cxnLst/>
              <a:rect l="l" t="t" r="r" b="b"/>
              <a:pathLst>
                <a:path w="8028432" h="438912">
                  <a:moveTo>
                    <a:pt x="0" y="0"/>
                  </a:moveTo>
                  <a:lnTo>
                    <a:pt x="8028432" y="0"/>
                  </a:lnTo>
                  <a:lnTo>
                    <a:pt x="8028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6413" b="-306413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802843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it matters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985505" y="5289299"/>
            <a:ext cx="6020819" cy="75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This metric directly supports the Retrieval Quality judging category.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728835" y="6821043"/>
            <a:ext cx="6534150" cy="1143762"/>
            <a:chOff x="0" y="0"/>
            <a:chExt cx="8712200" cy="152501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712200" cy="1525143"/>
            </a:xfrm>
            <a:custGeom>
              <a:avLst/>
              <a:gdLst/>
              <a:ahLst/>
              <a:cxnLst/>
              <a:rect l="l" t="t" r="r" b="b"/>
              <a:pathLst>
                <a:path w="8712200" h="1525143">
                  <a:moveTo>
                    <a:pt x="0" y="241808"/>
                  </a:moveTo>
                  <a:cubicBezTo>
                    <a:pt x="0" y="108204"/>
                    <a:pt x="108204" y="0"/>
                    <a:pt x="241808" y="0"/>
                  </a:cubicBezTo>
                  <a:lnTo>
                    <a:pt x="8470392" y="0"/>
                  </a:lnTo>
                  <a:cubicBezTo>
                    <a:pt x="8603996" y="0"/>
                    <a:pt x="8712200" y="108204"/>
                    <a:pt x="8712200" y="241808"/>
                  </a:cubicBezTo>
                  <a:lnTo>
                    <a:pt x="8712200" y="1283335"/>
                  </a:lnTo>
                  <a:cubicBezTo>
                    <a:pt x="8712200" y="1416812"/>
                    <a:pt x="8603996" y="1525143"/>
                    <a:pt x="8470392" y="1525143"/>
                  </a:cubicBezTo>
                  <a:lnTo>
                    <a:pt x="241808" y="1525143"/>
                  </a:lnTo>
                  <a:cubicBezTo>
                    <a:pt x="108204" y="1525016"/>
                    <a:pt x="0" y="1416812"/>
                    <a:pt x="0" y="1283208"/>
                  </a:cubicBezTo>
                  <a:close/>
                </a:path>
              </a:pathLst>
            </a:custGeom>
            <a:solidFill>
              <a:srgbClr val="EAF3FF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9985248" y="7036308"/>
            <a:ext cx="6021324" cy="329184"/>
            <a:chOff x="0" y="0"/>
            <a:chExt cx="8028432" cy="43891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028432" cy="438912"/>
            </a:xfrm>
            <a:custGeom>
              <a:avLst/>
              <a:gdLst/>
              <a:ahLst/>
              <a:cxnLst/>
              <a:rect l="l" t="t" r="r" b="b"/>
              <a:pathLst>
                <a:path w="8028432" h="438912">
                  <a:moveTo>
                    <a:pt x="0" y="0"/>
                  </a:moveTo>
                  <a:lnTo>
                    <a:pt x="8028432" y="0"/>
                  </a:lnTo>
                  <a:lnTo>
                    <a:pt x="8028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6413" b="-306413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802843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Target for demo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985505" y="7552439"/>
            <a:ext cx="6020819" cy="238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Show a small table of questions with Precision@3 and Precision@5.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042416" y="9710928"/>
            <a:ext cx="5486400" cy="219456"/>
            <a:chOff x="0" y="0"/>
            <a:chExt cx="7315200" cy="29260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315200" cy="292608"/>
            </a:xfrm>
            <a:custGeom>
              <a:avLst/>
              <a:gdLst/>
              <a:ahLst/>
              <a:cxnLst/>
              <a:rect l="l" t="t" r="r" b="b"/>
              <a:pathLst>
                <a:path w="7315200" h="292608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731520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4"/>
                </a:lnSpc>
              </a:pPr>
              <a:r>
                <a:rPr lang="en-US" sz="117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AI Clinical Decision Support Lite Hackathon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6527780" y="9642348"/>
            <a:ext cx="685800" cy="246888"/>
            <a:chOff x="0" y="0"/>
            <a:chExt cx="914400" cy="32918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14400" cy="329184"/>
            </a:xfrm>
            <a:custGeom>
              <a:avLst/>
              <a:gdLst/>
              <a:ahLst/>
              <a:cxnLst/>
              <a:rect l="l" t="t" r="r" b="b"/>
              <a:pathLst>
                <a:path w="914400" h="329184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75"/>
                </a:lnSpc>
              </a:pPr>
              <a:r>
                <a:rPr lang="en-US" sz="1230" b="1">
                  <a:solidFill>
                    <a:srgbClr val="5C6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</a:t>
              </a:r>
            </a:p>
          </p:txBody>
        </p:sp>
      </p:grpSp>
      <p:pic>
        <p:nvPicPr>
          <p:cNvPr id="48" name="Google Shape;90;p1">
            <a:extLst>
              <a:ext uri="{FF2B5EF4-FFF2-40B4-BE49-F238E27FC236}">
                <a16:creationId xmlns:a16="http://schemas.microsoft.com/office/drawing/2014/main" id="{3728F082-E724-4AD1-8020-7FB1DE4E0041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06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247960">
            <a:off x="382276" y="849820"/>
            <a:ext cx="1292857" cy="0"/>
          </a:xfrm>
          <a:prstGeom prst="line">
            <a:avLst/>
          </a:prstGeom>
          <a:ln w="28575" cap="rnd">
            <a:solidFill>
              <a:srgbClr val="15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576072"/>
            <a:ext cx="13441680" cy="617220"/>
            <a:chOff x="0" y="0"/>
            <a:chExt cx="17922240" cy="822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Step 6 — Design the evidence panel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6736" y="1234440"/>
            <a:ext cx="12618720" cy="384048"/>
            <a:chOff x="0" y="0"/>
            <a:chExt cx="16824960" cy="512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24961" cy="512064"/>
            </a:xfrm>
            <a:custGeom>
              <a:avLst/>
              <a:gdLst/>
              <a:ahLst/>
              <a:cxnLst/>
              <a:rect l="l" t="t" r="r" b="b"/>
              <a:pathLst>
                <a:path w="16824961" h="512064">
                  <a:moveTo>
                    <a:pt x="0" y="0"/>
                  </a:moveTo>
                  <a:lnTo>
                    <a:pt x="16824961" y="0"/>
                  </a:lnTo>
                  <a:lnTo>
                    <a:pt x="168249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682496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The interface should make retrieval transparent before the LLM answer appears.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2820">
            <a:off x="1022032" y="1682306"/>
            <a:ext cx="16266805" cy="0"/>
          </a:xfrm>
          <a:prstGeom prst="line">
            <a:avLst/>
          </a:prstGeom>
          <a:ln w="9525" cap="rnd">
            <a:solidFill>
              <a:srgbClr val="D8DE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293495" y="2116455"/>
            <a:ext cx="15312390" cy="6396990"/>
            <a:chOff x="0" y="0"/>
            <a:chExt cx="20416520" cy="85293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416520" cy="8529320"/>
            </a:xfrm>
            <a:custGeom>
              <a:avLst/>
              <a:gdLst/>
              <a:ahLst/>
              <a:cxnLst/>
              <a:rect l="l" t="t" r="r" b="b"/>
              <a:pathLst>
                <a:path w="20416520" h="8529320">
                  <a:moveTo>
                    <a:pt x="0" y="238506"/>
                  </a:moveTo>
                  <a:cubicBezTo>
                    <a:pt x="0" y="106807"/>
                    <a:pt x="106807" y="0"/>
                    <a:pt x="238506" y="0"/>
                  </a:cubicBezTo>
                  <a:lnTo>
                    <a:pt x="20178013" y="0"/>
                  </a:lnTo>
                  <a:cubicBezTo>
                    <a:pt x="20309712" y="0"/>
                    <a:pt x="20416520" y="106807"/>
                    <a:pt x="20416520" y="238506"/>
                  </a:cubicBezTo>
                  <a:lnTo>
                    <a:pt x="20416520" y="8290814"/>
                  </a:lnTo>
                  <a:cubicBezTo>
                    <a:pt x="20416520" y="8422513"/>
                    <a:pt x="20309712" y="8529320"/>
                    <a:pt x="20178013" y="8529320"/>
                  </a:cubicBezTo>
                  <a:lnTo>
                    <a:pt x="238506" y="8529320"/>
                  </a:lnTo>
                  <a:cubicBezTo>
                    <a:pt x="106807" y="8529320"/>
                    <a:pt x="0" y="8422513"/>
                    <a:pt x="0" y="8290814"/>
                  </a:cubicBezTo>
                  <a:close/>
                </a:path>
              </a:pathLst>
            </a:custGeom>
            <a:solidFill>
              <a:srgbClr val="F6F8FB"/>
            </a:solidFill>
            <a:ln w="19050" cap="sq">
              <a:solidFill>
                <a:srgbClr val="D8DEE9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714500" y="2606040"/>
            <a:ext cx="13578840" cy="342900"/>
            <a:chOff x="0" y="0"/>
            <a:chExt cx="18105120" cy="457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105120" cy="457200"/>
            </a:xfrm>
            <a:custGeom>
              <a:avLst/>
              <a:gdLst/>
              <a:ahLst/>
              <a:cxnLst/>
              <a:rect l="l" t="t" r="r" b="b"/>
              <a:pathLst>
                <a:path w="18105120" h="457200">
                  <a:moveTo>
                    <a:pt x="0" y="0"/>
                  </a:moveTo>
                  <a:lnTo>
                    <a:pt x="18105120" y="0"/>
                  </a:lnTo>
                  <a:lnTo>
                    <a:pt x="181051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1607" b="-72160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810512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Clinical query: “When should antihypertensive treatment be started?”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77543" y="3488055"/>
            <a:ext cx="13529310" cy="1088898"/>
            <a:chOff x="0" y="0"/>
            <a:chExt cx="18039080" cy="14518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039080" cy="1451864"/>
            </a:xfrm>
            <a:custGeom>
              <a:avLst/>
              <a:gdLst/>
              <a:ahLst/>
              <a:cxnLst/>
              <a:rect l="l" t="t" r="r" b="b"/>
              <a:pathLst>
                <a:path w="18039080" h="1451864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17890237" y="0"/>
                  </a:lnTo>
                  <a:cubicBezTo>
                    <a:pt x="17972532" y="0"/>
                    <a:pt x="18039080" y="66675"/>
                    <a:pt x="18039080" y="148844"/>
                  </a:cubicBezTo>
                  <a:lnTo>
                    <a:pt x="18039080" y="1303020"/>
                  </a:lnTo>
                  <a:cubicBezTo>
                    <a:pt x="18039080" y="1385316"/>
                    <a:pt x="17972405" y="1451864"/>
                    <a:pt x="17890237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FB49C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947672" y="3689604"/>
            <a:ext cx="12207240" cy="219456"/>
            <a:chOff x="0" y="0"/>
            <a:chExt cx="16276320" cy="2926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276320" cy="292608"/>
            </a:xfrm>
            <a:custGeom>
              <a:avLst/>
              <a:gdLst/>
              <a:ahLst/>
              <a:cxnLst/>
              <a:rect l="l" t="t" r="r" b="b"/>
              <a:pathLst>
                <a:path w="16276320" h="292608">
                  <a:moveTo>
                    <a:pt x="0" y="0"/>
                  </a:moveTo>
                  <a:lnTo>
                    <a:pt x="16276320" y="0"/>
                  </a:lnTo>
                  <a:lnTo>
                    <a:pt x="162763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3855" b="-1033855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627632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Chunk 1  •  Score 0.88  •  NICE Guideline  •  Section 4.2  •  Page 18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947672" y="4087368"/>
            <a:ext cx="12070080" cy="219456"/>
            <a:chOff x="0" y="0"/>
            <a:chExt cx="16093440" cy="29260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093439" cy="292608"/>
            </a:xfrm>
            <a:custGeom>
              <a:avLst/>
              <a:gdLst/>
              <a:ahLst/>
              <a:cxnLst/>
              <a:rect l="l" t="t" r="r" b="b"/>
              <a:pathLst>
                <a:path w="16093439" h="292608">
                  <a:moveTo>
                    <a:pt x="0" y="0"/>
                  </a:moveTo>
                  <a:lnTo>
                    <a:pt x="16093439" y="0"/>
                  </a:lnTo>
                  <a:lnTo>
                    <a:pt x="16093439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1677" b="-102167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16093440" cy="302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27"/>
                </a:lnSpc>
              </a:pPr>
              <a:r>
                <a:rPr lang="en-US" sz="1439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Retrieved evidence excerpt appears here so judges can inspect grounding before generation...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677543" y="4928235"/>
            <a:ext cx="13529310" cy="1088898"/>
            <a:chOff x="0" y="0"/>
            <a:chExt cx="18039080" cy="14518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039080" cy="1451864"/>
            </a:xfrm>
            <a:custGeom>
              <a:avLst/>
              <a:gdLst/>
              <a:ahLst/>
              <a:cxnLst/>
              <a:rect l="l" t="t" r="r" b="b"/>
              <a:pathLst>
                <a:path w="18039080" h="1451864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17890237" y="0"/>
                  </a:lnTo>
                  <a:cubicBezTo>
                    <a:pt x="17972532" y="0"/>
                    <a:pt x="18039080" y="66675"/>
                    <a:pt x="18039080" y="148844"/>
                  </a:cubicBezTo>
                  <a:lnTo>
                    <a:pt x="18039080" y="1303020"/>
                  </a:lnTo>
                  <a:cubicBezTo>
                    <a:pt x="18039080" y="1385316"/>
                    <a:pt x="17972405" y="1451864"/>
                    <a:pt x="17890237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947672" y="5129784"/>
            <a:ext cx="12207240" cy="219456"/>
            <a:chOff x="0" y="0"/>
            <a:chExt cx="16276320" cy="29260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276320" cy="292608"/>
            </a:xfrm>
            <a:custGeom>
              <a:avLst/>
              <a:gdLst/>
              <a:ahLst/>
              <a:cxnLst/>
              <a:rect l="l" t="t" r="r" b="b"/>
              <a:pathLst>
                <a:path w="16276320" h="292608">
                  <a:moveTo>
                    <a:pt x="0" y="0"/>
                  </a:moveTo>
                  <a:lnTo>
                    <a:pt x="16276320" y="0"/>
                  </a:lnTo>
                  <a:lnTo>
                    <a:pt x="162763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3855" b="-1033855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1627632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Chunk 2  •  Score 0.81  •  NICE Guideline  •  Section 5.2  •  Page 19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947672" y="5527548"/>
            <a:ext cx="12070080" cy="219456"/>
            <a:chOff x="0" y="0"/>
            <a:chExt cx="16093440" cy="29260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6093439" cy="292608"/>
            </a:xfrm>
            <a:custGeom>
              <a:avLst/>
              <a:gdLst/>
              <a:ahLst/>
              <a:cxnLst/>
              <a:rect l="l" t="t" r="r" b="b"/>
              <a:pathLst>
                <a:path w="16093439" h="292608">
                  <a:moveTo>
                    <a:pt x="0" y="0"/>
                  </a:moveTo>
                  <a:lnTo>
                    <a:pt x="16093439" y="0"/>
                  </a:lnTo>
                  <a:lnTo>
                    <a:pt x="16093439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1677" b="-1021677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16093440" cy="302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27"/>
                </a:lnSpc>
              </a:pPr>
              <a:r>
                <a:rPr lang="en-US" sz="1439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Retrieved evidence excerpt appears here so judges can inspect grounding before generation...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77543" y="6368415"/>
            <a:ext cx="13529310" cy="1088898"/>
            <a:chOff x="0" y="0"/>
            <a:chExt cx="18039080" cy="145186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8039080" cy="1451864"/>
            </a:xfrm>
            <a:custGeom>
              <a:avLst/>
              <a:gdLst/>
              <a:ahLst/>
              <a:cxnLst/>
              <a:rect l="l" t="t" r="r" b="b"/>
              <a:pathLst>
                <a:path w="18039080" h="1451864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17890237" y="0"/>
                  </a:lnTo>
                  <a:cubicBezTo>
                    <a:pt x="17972532" y="0"/>
                    <a:pt x="18039080" y="66675"/>
                    <a:pt x="18039080" y="148844"/>
                  </a:cubicBezTo>
                  <a:lnTo>
                    <a:pt x="18039080" y="1303020"/>
                  </a:lnTo>
                  <a:cubicBezTo>
                    <a:pt x="18039080" y="1385316"/>
                    <a:pt x="17972405" y="1451864"/>
                    <a:pt x="17890237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947672" y="6569964"/>
            <a:ext cx="12207240" cy="219456"/>
            <a:chOff x="0" y="0"/>
            <a:chExt cx="16276320" cy="29260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6276320" cy="292608"/>
            </a:xfrm>
            <a:custGeom>
              <a:avLst/>
              <a:gdLst/>
              <a:ahLst/>
              <a:cxnLst/>
              <a:rect l="l" t="t" r="r" b="b"/>
              <a:pathLst>
                <a:path w="16276320" h="292608">
                  <a:moveTo>
                    <a:pt x="0" y="0"/>
                  </a:moveTo>
                  <a:lnTo>
                    <a:pt x="16276320" y="0"/>
                  </a:lnTo>
                  <a:lnTo>
                    <a:pt x="162763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3855" b="-1033855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1627632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Chunk 3  •  Score 0.74  •  NICE Guideline  •  Section 6.2  •  Page 20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947672" y="6967728"/>
            <a:ext cx="12070080" cy="219456"/>
            <a:chOff x="0" y="0"/>
            <a:chExt cx="16093440" cy="29260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6093439" cy="292608"/>
            </a:xfrm>
            <a:custGeom>
              <a:avLst/>
              <a:gdLst/>
              <a:ahLst/>
              <a:cxnLst/>
              <a:rect l="l" t="t" r="r" b="b"/>
              <a:pathLst>
                <a:path w="16093439" h="292608">
                  <a:moveTo>
                    <a:pt x="0" y="0"/>
                  </a:moveTo>
                  <a:lnTo>
                    <a:pt x="16093439" y="0"/>
                  </a:lnTo>
                  <a:lnTo>
                    <a:pt x="16093439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1677" b="-1021677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6093440" cy="302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27"/>
                </a:lnSpc>
              </a:pPr>
              <a:r>
                <a:rPr lang="en-US" sz="1439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Retrieved evidence excerpt appears here so judges can inspect grounding before generation...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704975" y="7602855"/>
            <a:ext cx="13529310" cy="595122"/>
            <a:chOff x="0" y="0"/>
            <a:chExt cx="18039080" cy="79349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8039080" cy="793496"/>
            </a:xfrm>
            <a:custGeom>
              <a:avLst/>
              <a:gdLst/>
              <a:ahLst/>
              <a:cxnLst/>
              <a:rect l="l" t="t" r="r" b="b"/>
              <a:pathLst>
                <a:path w="18039080" h="793496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17793463" y="0"/>
                  </a:lnTo>
                  <a:cubicBezTo>
                    <a:pt x="17929099" y="0"/>
                    <a:pt x="18039080" y="109982"/>
                    <a:pt x="18039080" y="245618"/>
                  </a:cubicBezTo>
                  <a:lnTo>
                    <a:pt x="18039080" y="547878"/>
                  </a:lnTo>
                  <a:cubicBezTo>
                    <a:pt x="18039080" y="683514"/>
                    <a:pt x="17929099" y="793496"/>
                    <a:pt x="17793463" y="793496"/>
                  </a:cubicBezTo>
                  <a:lnTo>
                    <a:pt x="245618" y="793496"/>
                  </a:lnTo>
                  <a:cubicBezTo>
                    <a:pt x="109982" y="793496"/>
                    <a:pt x="0" y="683514"/>
                    <a:pt x="0" y="547878"/>
                  </a:cubicBezTo>
                  <a:close/>
                </a:path>
              </a:pathLst>
            </a:custGeom>
            <a:solidFill>
              <a:srgbClr val="EAFBF7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961388" y="7818120"/>
            <a:ext cx="13016484" cy="329184"/>
            <a:chOff x="0" y="0"/>
            <a:chExt cx="17355312" cy="43891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7355313" cy="438912"/>
            </a:xfrm>
            <a:custGeom>
              <a:avLst/>
              <a:gdLst/>
              <a:ahLst/>
              <a:cxnLst/>
              <a:rect l="l" t="t" r="r" b="b"/>
              <a:pathLst>
                <a:path w="17355313" h="438912">
                  <a:moveTo>
                    <a:pt x="0" y="0"/>
                  </a:moveTo>
                  <a:lnTo>
                    <a:pt x="17355313" y="0"/>
                  </a:lnTo>
                  <a:lnTo>
                    <a:pt x="17355313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0470" b="-720470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1735531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UI rule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42416" y="9710928"/>
            <a:ext cx="5486400" cy="219456"/>
            <a:chOff x="0" y="0"/>
            <a:chExt cx="7315200" cy="29260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315200" cy="292608"/>
            </a:xfrm>
            <a:custGeom>
              <a:avLst/>
              <a:gdLst/>
              <a:ahLst/>
              <a:cxnLst/>
              <a:rect l="l" t="t" r="r" b="b"/>
              <a:pathLst>
                <a:path w="7315200" h="292608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731520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4"/>
                </a:lnSpc>
              </a:pPr>
              <a:r>
                <a:rPr lang="en-US" sz="117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AI Clinical Decision Support Lite Hackathon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6527780" y="9642348"/>
            <a:ext cx="685800" cy="246888"/>
            <a:chOff x="0" y="0"/>
            <a:chExt cx="914400" cy="32918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14400" cy="329184"/>
            </a:xfrm>
            <a:custGeom>
              <a:avLst/>
              <a:gdLst/>
              <a:ahLst/>
              <a:cxnLst/>
              <a:rect l="l" t="t" r="r" b="b"/>
              <a:pathLst>
                <a:path w="914400" h="329184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75"/>
                </a:lnSpc>
              </a:pPr>
              <a:r>
                <a:rPr lang="en-US" sz="1230" b="1">
                  <a:solidFill>
                    <a:srgbClr val="5C6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11</a:t>
              </a:r>
            </a:p>
          </p:txBody>
        </p:sp>
      </p:grpSp>
      <p:pic>
        <p:nvPicPr>
          <p:cNvPr id="53" name="Google Shape;90;p1">
            <a:extLst>
              <a:ext uri="{FF2B5EF4-FFF2-40B4-BE49-F238E27FC236}">
                <a16:creationId xmlns:a16="http://schemas.microsoft.com/office/drawing/2014/main" id="{1AEB3175-AA7B-4820-8F75-E1E444B1CB65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06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247960">
            <a:off x="382276" y="849820"/>
            <a:ext cx="1292857" cy="0"/>
          </a:xfrm>
          <a:prstGeom prst="line">
            <a:avLst/>
          </a:prstGeom>
          <a:ln w="28575" cap="rnd">
            <a:solidFill>
              <a:srgbClr val="15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576072"/>
            <a:ext cx="13441680" cy="617220"/>
            <a:chOff x="0" y="0"/>
            <a:chExt cx="17922240" cy="822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Common retrieval failure modes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6736" y="1234440"/>
            <a:ext cx="12618720" cy="384048"/>
            <a:chOff x="0" y="0"/>
            <a:chExt cx="16824960" cy="512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24961" cy="512064"/>
            </a:xfrm>
            <a:custGeom>
              <a:avLst/>
              <a:gdLst/>
              <a:ahLst/>
              <a:cxnLst/>
              <a:rect l="l" t="t" r="r" b="b"/>
              <a:pathLst>
                <a:path w="16824961" h="512064">
                  <a:moveTo>
                    <a:pt x="0" y="0"/>
                  </a:moveTo>
                  <a:lnTo>
                    <a:pt x="16824961" y="0"/>
                  </a:lnTo>
                  <a:lnTo>
                    <a:pt x="168249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682496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Instructors should help students find these issues early.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2820">
            <a:off x="1022032" y="1682306"/>
            <a:ext cx="16266805" cy="0"/>
          </a:xfrm>
          <a:prstGeom prst="line">
            <a:avLst/>
          </a:prstGeom>
          <a:ln w="9525" cap="rnd">
            <a:solidFill>
              <a:srgbClr val="D8DE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156335" y="2047875"/>
            <a:ext cx="4751070" cy="6191250"/>
            <a:chOff x="0" y="0"/>
            <a:chExt cx="6334760" cy="8255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34760" cy="8255000"/>
            </a:xfrm>
            <a:custGeom>
              <a:avLst/>
              <a:gdLst/>
              <a:ahLst/>
              <a:cxnLst/>
              <a:rect l="l" t="t" r="r" b="b"/>
              <a:pathLst>
                <a:path w="6334760" h="8255000">
                  <a:moveTo>
                    <a:pt x="0" y="238633"/>
                  </a:moveTo>
                  <a:cubicBezTo>
                    <a:pt x="0" y="106807"/>
                    <a:pt x="106807" y="0"/>
                    <a:pt x="238633" y="0"/>
                  </a:cubicBezTo>
                  <a:lnTo>
                    <a:pt x="6096127" y="0"/>
                  </a:lnTo>
                  <a:cubicBezTo>
                    <a:pt x="6227953" y="0"/>
                    <a:pt x="6334760" y="106807"/>
                    <a:pt x="6334760" y="238633"/>
                  </a:cubicBezTo>
                  <a:lnTo>
                    <a:pt x="6334760" y="8016367"/>
                  </a:lnTo>
                  <a:cubicBezTo>
                    <a:pt x="6334760" y="8148193"/>
                    <a:pt x="6227953" y="8255000"/>
                    <a:pt x="6096127" y="8255000"/>
                  </a:cubicBezTo>
                  <a:lnTo>
                    <a:pt x="238633" y="8255000"/>
                  </a:lnTo>
                  <a:cubicBezTo>
                    <a:pt x="106807" y="8255000"/>
                    <a:pt x="0" y="8148193"/>
                    <a:pt x="0" y="8016367"/>
                  </a:cubicBezTo>
                  <a:close/>
                </a:path>
              </a:pathLst>
            </a:custGeom>
            <a:solidFill>
              <a:srgbClr val="FDEBEC"/>
            </a:solidFill>
            <a:ln w="19050" cap="sq">
              <a:solidFill>
                <a:srgbClr val="D84C4C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412748" y="2263140"/>
            <a:ext cx="4238244" cy="329184"/>
            <a:chOff x="0" y="0"/>
            <a:chExt cx="5650992" cy="4389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50992" cy="438912"/>
            </a:xfrm>
            <a:custGeom>
              <a:avLst/>
              <a:gdLst/>
              <a:ahLst/>
              <a:cxnLst/>
              <a:rect l="l" t="t" r="r" b="b"/>
              <a:pathLst>
                <a:path w="5650992" h="438912">
                  <a:moveTo>
                    <a:pt x="0" y="0"/>
                  </a:moveTo>
                  <a:lnTo>
                    <a:pt x="5650992" y="0"/>
                  </a:lnTo>
                  <a:lnTo>
                    <a:pt x="565099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869" b="-200869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565099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Wrong topic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13005" y="2779271"/>
            <a:ext cx="4237739" cy="5285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The chunk is medically related but answers a different clinical question.</a:t>
            </a:r>
          </a:p>
          <a:p>
            <a:pPr algn="l">
              <a:lnSpc>
                <a:spcPts val="1854"/>
              </a:lnSpc>
            </a:pPr>
            <a:endParaRPr lang="en-US" sz="1545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Fix: improve scope, query cleaning, or reranking.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738747" y="2047875"/>
            <a:ext cx="4751070" cy="6191250"/>
            <a:chOff x="0" y="0"/>
            <a:chExt cx="6334760" cy="8255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34760" cy="8255000"/>
            </a:xfrm>
            <a:custGeom>
              <a:avLst/>
              <a:gdLst/>
              <a:ahLst/>
              <a:cxnLst/>
              <a:rect l="l" t="t" r="r" b="b"/>
              <a:pathLst>
                <a:path w="6334760" h="8255000">
                  <a:moveTo>
                    <a:pt x="0" y="238633"/>
                  </a:moveTo>
                  <a:cubicBezTo>
                    <a:pt x="0" y="106807"/>
                    <a:pt x="106807" y="0"/>
                    <a:pt x="238633" y="0"/>
                  </a:cubicBezTo>
                  <a:lnTo>
                    <a:pt x="6096127" y="0"/>
                  </a:lnTo>
                  <a:cubicBezTo>
                    <a:pt x="6227953" y="0"/>
                    <a:pt x="6334760" y="106807"/>
                    <a:pt x="6334760" y="238633"/>
                  </a:cubicBezTo>
                  <a:lnTo>
                    <a:pt x="6334760" y="8016367"/>
                  </a:lnTo>
                  <a:cubicBezTo>
                    <a:pt x="6334760" y="8148193"/>
                    <a:pt x="6227953" y="8255000"/>
                    <a:pt x="6096127" y="8255000"/>
                  </a:cubicBezTo>
                  <a:lnTo>
                    <a:pt x="238633" y="8255000"/>
                  </a:lnTo>
                  <a:cubicBezTo>
                    <a:pt x="106807" y="8255000"/>
                    <a:pt x="0" y="8148193"/>
                    <a:pt x="0" y="8016367"/>
                  </a:cubicBezTo>
                  <a:close/>
                </a:path>
              </a:pathLst>
            </a:custGeom>
            <a:solidFill>
              <a:srgbClr val="FFF2D8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995160" y="2263140"/>
            <a:ext cx="4238244" cy="329184"/>
            <a:chOff x="0" y="0"/>
            <a:chExt cx="5650992" cy="4389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50992" cy="438912"/>
            </a:xfrm>
            <a:custGeom>
              <a:avLst/>
              <a:gdLst/>
              <a:ahLst/>
              <a:cxnLst/>
              <a:rect l="l" t="t" r="r" b="b"/>
              <a:pathLst>
                <a:path w="5650992" h="438912">
                  <a:moveTo>
                    <a:pt x="0" y="0"/>
                  </a:moveTo>
                  <a:lnTo>
                    <a:pt x="5650992" y="0"/>
                  </a:lnTo>
                  <a:lnTo>
                    <a:pt x="565099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869" b="-200869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565099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Missing context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995417" y="2779271"/>
            <a:ext cx="4237739" cy="5285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The chunk contains a sentence but not the recommendation criteria around it.</a:t>
            </a:r>
          </a:p>
          <a:p>
            <a:pPr algn="l">
              <a:lnSpc>
                <a:spcPts val="1854"/>
              </a:lnSpc>
            </a:pPr>
            <a:endParaRPr lang="en-US" sz="1545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Fix: adjust chunk size or overlap.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307443" y="2047875"/>
            <a:ext cx="4271010" cy="6191250"/>
            <a:chOff x="0" y="0"/>
            <a:chExt cx="5694680" cy="8255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694680" cy="8255000"/>
            </a:xfrm>
            <a:custGeom>
              <a:avLst/>
              <a:gdLst/>
              <a:ahLst/>
              <a:cxnLst/>
              <a:rect l="l" t="t" r="r" b="b"/>
              <a:pathLst>
                <a:path w="5694680" h="8255000">
                  <a:moveTo>
                    <a:pt x="0" y="238887"/>
                  </a:moveTo>
                  <a:cubicBezTo>
                    <a:pt x="0" y="106934"/>
                    <a:pt x="106934" y="0"/>
                    <a:pt x="238887" y="0"/>
                  </a:cubicBezTo>
                  <a:lnTo>
                    <a:pt x="5455793" y="0"/>
                  </a:lnTo>
                  <a:cubicBezTo>
                    <a:pt x="5587746" y="0"/>
                    <a:pt x="5694680" y="106934"/>
                    <a:pt x="5694680" y="238887"/>
                  </a:cubicBezTo>
                  <a:lnTo>
                    <a:pt x="5694680" y="8016113"/>
                  </a:lnTo>
                  <a:cubicBezTo>
                    <a:pt x="5694680" y="8148066"/>
                    <a:pt x="5587746" y="8255000"/>
                    <a:pt x="5455793" y="8255000"/>
                  </a:cubicBezTo>
                  <a:lnTo>
                    <a:pt x="238887" y="8255000"/>
                  </a:lnTo>
                  <a:cubicBezTo>
                    <a:pt x="106934" y="8255000"/>
                    <a:pt x="0" y="8148066"/>
                    <a:pt x="0" y="8016113"/>
                  </a:cubicBezTo>
                  <a:close/>
                </a:path>
              </a:pathLst>
            </a:custGeom>
            <a:solidFill>
              <a:srgbClr val="EAF3FF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563856" y="2263140"/>
            <a:ext cx="3758184" cy="329184"/>
            <a:chOff x="0" y="0"/>
            <a:chExt cx="5010912" cy="4389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010912" cy="438912"/>
            </a:xfrm>
            <a:custGeom>
              <a:avLst/>
              <a:gdLst/>
              <a:ahLst/>
              <a:cxnLst/>
              <a:rect l="l" t="t" r="r" b="b"/>
              <a:pathLst>
                <a:path w="5010912" h="438912">
                  <a:moveTo>
                    <a:pt x="0" y="0"/>
                  </a:moveTo>
                  <a:lnTo>
                    <a:pt x="5010912" y="0"/>
                  </a:lnTo>
                  <a:lnTo>
                    <a:pt x="5010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454" b="-172454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501091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Duplicate chunks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564113" y="2779271"/>
            <a:ext cx="3757679" cy="5285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Top-K returns almost the same evidence repeatedly.</a:t>
            </a:r>
          </a:p>
          <a:p>
            <a:pPr algn="l">
              <a:lnSpc>
                <a:spcPts val="1854"/>
              </a:lnSpc>
            </a:pPr>
            <a:endParaRPr lang="en-US" sz="1545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Fix: deduplicate by section, page, or similarity threshold.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42416" y="9710928"/>
            <a:ext cx="5486400" cy="219456"/>
            <a:chOff x="0" y="0"/>
            <a:chExt cx="7315200" cy="29260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315200" cy="292608"/>
            </a:xfrm>
            <a:custGeom>
              <a:avLst/>
              <a:gdLst/>
              <a:ahLst/>
              <a:cxnLst/>
              <a:rect l="l" t="t" r="r" b="b"/>
              <a:pathLst>
                <a:path w="7315200" h="292608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731520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4"/>
                </a:lnSpc>
              </a:pPr>
              <a:r>
                <a:rPr lang="en-US" sz="117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AI Clinical Decision Support Lite Hackathon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527780" y="9642348"/>
            <a:ext cx="685800" cy="246888"/>
            <a:chOff x="0" y="0"/>
            <a:chExt cx="914400" cy="32918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4400" cy="329184"/>
            </a:xfrm>
            <a:custGeom>
              <a:avLst/>
              <a:gdLst/>
              <a:ahLst/>
              <a:cxnLst/>
              <a:rect l="l" t="t" r="r" b="b"/>
              <a:pathLst>
                <a:path w="914400" h="329184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75"/>
                </a:lnSpc>
              </a:pPr>
              <a:r>
                <a:rPr lang="en-US" sz="1230" b="1">
                  <a:solidFill>
                    <a:srgbClr val="5C6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12</a:t>
              </a:r>
            </a:p>
          </p:txBody>
        </p:sp>
      </p:grpSp>
      <p:pic>
        <p:nvPicPr>
          <p:cNvPr id="37" name="Google Shape;90;p1">
            <a:extLst>
              <a:ext uri="{FF2B5EF4-FFF2-40B4-BE49-F238E27FC236}">
                <a16:creationId xmlns:a16="http://schemas.microsoft.com/office/drawing/2014/main" id="{1D6DFC06-2A13-4CF7-97E4-1C3CEF59D30B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06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247960">
            <a:off x="382276" y="849820"/>
            <a:ext cx="1292857" cy="0"/>
          </a:xfrm>
          <a:prstGeom prst="line">
            <a:avLst/>
          </a:prstGeom>
          <a:ln w="28575" cap="rnd">
            <a:solidFill>
              <a:srgbClr val="15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576072"/>
            <a:ext cx="13441680" cy="617220"/>
            <a:chOff x="0" y="0"/>
            <a:chExt cx="17922240" cy="822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Hands-on lab — Complete this today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6736" y="1234440"/>
            <a:ext cx="12618720" cy="384048"/>
            <a:chOff x="0" y="0"/>
            <a:chExt cx="16824960" cy="512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24961" cy="512064"/>
            </a:xfrm>
            <a:custGeom>
              <a:avLst/>
              <a:gdLst/>
              <a:ahLst/>
              <a:cxnLst/>
              <a:rect l="l" t="t" r="r" b="b"/>
              <a:pathLst>
                <a:path w="16824961" h="512064">
                  <a:moveTo>
                    <a:pt x="0" y="0"/>
                  </a:moveTo>
                  <a:lnTo>
                    <a:pt x="16824961" y="0"/>
                  </a:lnTo>
                  <a:lnTo>
                    <a:pt x="168249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682496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Practical checklist for teams after the teaching block.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2820">
            <a:off x="1022032" y="1682306"/>
            <a:ext cx="16266805" cy="0"/>
          </a:xfrm>
          <a:prstGeom prst="line">
            <a:avLst/>
          </a:prstGeom>
          <a:ln w="9525" cap="rnd">
            <a:solidFill>
              <a:srgbClr val="D8DE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430655" y="2445639"/>
            <a:ext cx="265938" cy="265938"/>
            <a:chOff x="0" y="0"/>
            <a:chExt cx="354584" cy="3545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4584" cy="354584"/>
            </a:xfrm>
            <a:custGeom>
              <a:avLst/>
              <a:gdLst/>
              <a:ahLst/>
              <a:cxnLst/>
              <a:rect l="l" t="t" r="r" b="b"/>
              <a:pathLst>
                <a:path w="354584" h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15B8A6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920240" y="2400300"/>
            <a:ext cx="7132320" cy="329184"/>
            <a:chOff x="0" y="0"/>
            <a:chExt cx="9509760" cy="4389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09760" cy="438912"/>
            </a:xfrm>
            <a:custGeom>
              <a:avLst/>
              <a:gdLst/>
              <a:ahLst/>
              <a:cxnLst/>
              <a:rect l="l" t="t" r="r" b="b"/>
              <a:pathLst>
                <a:path w="9509760" h="438912">
                  <a:moveTo>
                    <a:pt x="0" y="0"/>
                  </a:moveTo>
                  <a:lnTo>
                    <a:pt x="9509760" y="0"/>
                  </a:lnTo>
                  <a:lnTo>
                    <a:pt x="9509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75" b="-372175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950976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Run Top-5 search on 15–20 questions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591675" y="2445639"/>
            <a:ext cx="265938" cy="265938"/>
            <a:chOff x="0" y="0"/>
            <a:chExt cx="354584" cy="35458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54584" cy="354584"/>
            </a:xfrm>
            <a:custGeom>
              <a:avLst/>
              <a:gdLst/>
              <a:ahLst/>
              <a:cxnLst/>
              <a:rect l="l" t="t" r="r" b="b"/>
              <a:pathLst>
                <a:path w="354584" h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15B8A6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0081260" y="2400300"/>
            <a:ext cx="7132320" cy="329184"/>
            <a:chOff x="0" y="0"/>
            <a:chExt cx="9509760" cy="4389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509760" cy="438912"/>
            </a:xfrm>
            <a:custGeom>
              <a:avLst/>
              <a:gdLst/>
              <a:ahLst/>
              <a:cxnLst/>
              <a:rect l="l" t="t" r="r" b="b"/>
              <a:pathLst>
                <a:path w="9509760" h="438912">
                  <a:moveTo>
                    <a:pt x="0" y="0"/>
                  </a:moveTo>
                  <a:lnTo>
                    <a:pt x="9509760" y="0"/>
                  </a:lnTo>
                  <a:lnTo>
                    <a:pt x="9509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75" b="-372175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950976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Compare at least two chunk settings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30655" y="3474339"/>
            <a:ext cx="265938" cy="265938"/>
            <a:chOff x="0" y="0"/>
            <a:chExt cx="354584" cy="3545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54584" cy="354584"/>
            </a:xfrm>
            <a:custGeom>
              <a:avLst/>
              <a:gdLst/>
              <a:ahLst/>
              <a:cxnLst/>
              <a:rect l="l" t="t" r="r" b="b"/>
              <a:pathLst>
                <a:path w="354584" h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15B8A6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920240" y="3429000"/>
            <a:ext cx="7132320" cy="329184"/>
            <a:chOff x="0" y="0"/>
            <a:chExt cx="9509760" cy="43891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509760" cy="438912"/>
            </a:xfrm>
            <a:custGeom>
              <a:avLst/>
              <a:gdLst/>
              <a:ahLst/>
              <a:cxnLst/>
              <a:rect l="l" t="t" r="r" b="b"/>
              <a:pathLst>
                <a:path w="9509760" h="438912">
                  <a:moveTo>
                    <a:pt x="0" y="0"/>
                  </a:moveTo>
                  <a:lnTo>
                    <a:pt x="9509760" y="0"/>
                  </a:lnTo>
                  <a:lnTo>
                    <a:pt x="9509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75" b="-372175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950976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Display retrieved chunks with metadata and scores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91675" y="3474339"/>
            <a:ext cx="265938" cy="265938"/>
            <a:chOff x="0" y="0"/>
            <a:chExt cx="354584" cy="35458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54584" cy="354584"/>
            </a:xfrm>
            <a:custGeom>
              <a:avLst/>
              <a:gdLst/>
              <a:ahLst/>
              <a:cxnLst/>
              <a:rect l="l" t="t" r="r" b="b"/>
              <a:pathLst>
                <a:path w="354584" h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15B8A6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0081260" y="3429000"/>
            <a:ext cx="7132320" cy="329184"/>
            <a:chOff x="0" y="0"/>
            <a:chExt cx="9509760" cy="43891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509760" cy="438912"/>
            </a:xfrm>
            <a:custGeom>
              <a:avLst/>
              <a:gdLst/>
              <a:ahLst/>
              <a:cxnLst/>
              <a:rect l="l" t="t" r="r" b="b"/>
              <a:pathLst>
                <a:path w="9509760" h="438912">
                  <a:moveTo>
                    <a:pt x="0" y="0"/>
                  </a:moveTo>
                  <a:lnTo>
                    <a:pt x="9509760" y="0"/>
                  </a:lnTo>
                  <a:lnTo>
                    <a:pt x="9509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75" b="-372175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950976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Try Top-3 vs Top-5 vs Top-10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30655" y="4503039"/>
            <a:ext cx="265938" cy="265938"/>
            <a:chOff x="0" y="0"/>
            <a:chExt cx="354584" cy="35458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54584" cy="354584"/>
            </a:xfrm>
            <a:custGeom>
              <a:avLst/>
              <a:gdLst/>
              <a:ahLst/>
              <a:cxnLst/>
              <a:rect l="l" t="t" r="r" b="b"/>
              <a:pathLst>
                <a:path w="354584" h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15B8A6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920240" y="4457700"/>
            <a:ext cx="7132320" cy="329184"/>
            <a:chOff x="0" y="0"/>
            <a:chExt cx="9509760" cy="43891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509760" cy="438912"/>
            </a:xfrm>
            <a:custGeom>
              <a:avLst/>
              <a:gdLst/>
              <a:ahLst/>
              <a:cxnLst/>
              <a:rect l="l" t="t" r="r" b="b"/>
              <a:pathLst>
                <a:path w="9509760" h="438912">
                  <a:moveTo>
                    <a:pt x="0" y="0"/>
                  </a:moveTo>
                  <a:lnTo>
                    <a:pt x="9509760" y="0"/>
                  </a:lnTo>
                  <a:lnTo>
                    <a:pt x="9509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75" b="-372175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950976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Label each retrieved chunk as relevant or not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591675" y="4503039"/>
            <a:ext cx="265938" cy="265938"/>
            <a:chOff x="0" y="0"/>
            <a:chExt cx="354584" cy="35458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54584" cy="354584"/>
            </a:xfrm>
            <a:custGeom>
              <a:avLst/>
              <a:gdLst/>
              <a:ahLst/>
              <a:cxnLst/>
              <a:rect l="l" t="t" r="r" b="b"/>
              <a:pathLst>
                <a:path w="354584" h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15B8A6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0081260" y="4457700"/>
            <a:ext cx="7132320" cy="329184"/>
            <a:chOff x="0" y="0"/>
            <a:chExt cx="9509760" cy="43891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509760" cy="438912"/>
            </a:xfrm>
            <a:custGeom>
              <a:avLst/>
              <a:gdLst/>
              <a:ahLst/>
              <a:cxnLst/>
              <a:rect l="l" t="t" r="r" b="b"/>
              <a:pathLst>
                <a:path w="9509760" h="438912">
                  <a:moveTo>
                    <a:pt x="0" y="0"/>
                  </a:moveTo>
                  <a:lnTo>
                    <a:pt x="9509760" y="0"/>
                  </a:lnTo>
                  <a:lnTo>
                    <a:pt x="9509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75" b="-37217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950976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Optionally test hybrid search or reranking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30655" y="5531739"/>
            <a:ext cx="265938" cy="265938"/>
            <a:chOff x="0" y="0"/>
            <a:chExt cx="354584" cy="35458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54584" cy="354584"/>
            </a:xfrm>
            <a:custGeom>
              <a:avLst/>
              <a:gdLst/>
              <a:ahLst/>
              <a:cxnLst/>
              <a:rect l="l" t="t" r="r" b="b"/>
              <a:pathLst>
                <a:path w="354584" h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15B8A6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920240" y="5486400"/>
            <a:ext cx="7132320" cy="329184"/>
            <a:chOff x="0" y="0"/>
            <a:chExt cx="9509760" cy="43891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509760" cy="438912"/>
            </a:xfrm>
            <a:custGeom>
              <a:avLst/>
              <a:gdLst/>
              <a:ahLst/>
              <a:cxnLst/>
              <a:rect l="l" t="t" r="r" b="b"/>
              <a:pathLst>
                <a:path w="9509760" h="438912">
                  <a:moveTo>
                    <a:pt x="0" y="0"/>
                  </a:moveTo>
                  <a:lnTo>
                    <a:pt x="9509760" y="0"/>
                  </a:lnTo>
                  <a:lnTo>
                    <a:pt x="9509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75" b="-37217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950976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Calculate Precision@3 and Precision@5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591675" y="5531739"/>
            <a:ext cx="265938" cy="265938"/>
            <a:chOff x="0" y="0"/>
            <a:chExt cx="354584" cy="35458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54584" cy="354584"/>
            </a:xfrm>
            <a:custGeom>
              <a:avLst/>
              <a:gdLst/>
              <a:ahLst/>
              <a:cxnLst/>
              <a:rect l="l" t="t" r="r" b="b"/>
              <a:pathLst>
                <a:path w="354584" h="354584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cubicBezTo>
                    <a:pt x="275209" y="0"/>
                    <a:pt x="354584" y="79375"/>
                    <a:pt x="354584" y="177292"/>
                  </a:cubicBezTo>
                  <a:cubicBezTo>
                    <a:pt x="354584" y="275209"/>
                    <a:pt x="275209" y="354584"/>
                    <a:pt x="177292" y="354584"/>
                  </a:cubicBezTo>
                  <a:cubicBezTo>
                    <a:pt x="79375" y="354584"/>
                    <a:pt x="0" y="275209"/>
                    <a:pt x="0" y="177292"/>
                  </a:cubicBezTo>
                  <a:close/>
                </a:path>
              </a:pathLst>
            </a:custGeom>
            <a:solidFill>
              <a:srgbClr val="15B8A6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0081260" y="5486400"/>
            <a:ext cx="7132320" cy="329184"/>
            <a:chOff x="0" y="0"/>
            <a:chExt cx="9509760" cy="43891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509760" cy="438912"/>
            </a:xfrm>
            <a:custGeom>
              <a:avLst/>
              <a:gdLst/>
              <a:ahLst/>
              <a:cxnLst/>
              <a:rect l="l" t="t" r="r" b="b"/>
              <a:pathLst>
                <a:path w="9509760" h="438912">
                  <a:moveTo>
                    <a:pt x="0" y="0"/>
                  </a:moveTo>
                  <a:lnTo>
                    <a:pt x="9509760" y="0"/>
                  </a:lnTo>
                  <a:lnTo>
                    <a:pt x="95097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175" b="-372175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950976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172033"/>
                  </a:solidFill>
                  <a:latin typeface="Arial"/>
                  <a:ea typeface="Arial"/>
                  <a:cs typeface="Arial"/>
                  <a:sym typeface="Arial"/>
                </a:rPr>
                <a:t>Document which setup performs best and why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704975" y="7602855"/>
            <a:ext cx="14832330" cy="1047750"/>
            <a:chOff x="0" y="0"/>
            <a:chExt cx="19776440" cy="13970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9776441" cy="1397000"/>
            </a:xfrm>
            <a:custGeom>
              <a:avLst/>
              <a:gdLst/>
              <a:ahLst/>
              <a:cxnLst/>
              <a:rect l="l" t="t" r="r" b="b"/>
              <a:pathLst>
                <a:path w="19776441" h="139700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19441161" y="0"/>
                  </a:lnTo>
                  <a:cubicBezTo>
                    <a:pt x="19626326" y="0"/>
                    <a:pt x="19776441" y="150114"/>
                    <a:pt x="19776441" y="335280"/>
                  </a:cubicBezTo>
                  <a:lnTo>
                    <a:pt x="19776441" y="1061720"/>
                  </a:lnTo>
                  <a:cubicBezTo>
                    <a:pt x="19776441" y="1246886"/>
                    <a:pt x="19626326" y="1397000"/>
                    <a:pt x="19441161" y="1397000"/>
                  </a:cubicBezTo>
                  <a:lnTo>
                    <a:pt x="335280" y="1397000"/>
                  </a:lnTo>
                  <a:cubicBezTo>
                    <a:pt x="150114" y="1397000"/>
                    <a:pt x="0" y="1246886"/>
                    <a:pt x="0" y="1061720"/>
                  </a:cubicBezTo>
                  <a:close/>
                </a:path>
              </a:pathLst>
            </a:custGeom>
            <a:solidFill>
              <a:srgbClr val="FDEBEC"/>
            </a:solidFill>
            <a:ln w="19050" cap="sq">
              <a:solidFill>
                <a:srgbClr val="D84C4C"/>
              </a:solidFill>
              <a:prstDash val="solid"/>
              <a:miter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2125980" y="7996428"/>
            <a:ext cx="13990320" cy="246888"/>
            <a:chOff x="0" y="0"/>
            <a:chExt cx="18653760" cy="32918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8653761" cy="329184"/>
            </a:xfrm>
            <a:custGeom>
              <a:avLst/>
              <a:gdLst/>
              <a:ahLst/>
              <a:cxnLst/>
              <a:rect l="l" t="t" r="r" b="b"/>
              <a:pathLst>
                <a:path w="18653761" h="329184">
                  <a:moveTo>
                    <a:pt x="0" y="0"/>
                  </a:moveTo>
                  <a:lnTo>
                    <a:pt x="18653761" y="0"/>
                  </a:lnTo>
                  <a:lnTo>
                    <a:pt x="18653761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4152" b="-1054152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18653760" cy="3482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76"/>
                </a:lnSpc>
              </a:pPr>
              <a:r>
                <a:rPr lang="en-US" sz="1980" b="1">
                  <a:solidFill>
                    <a:srgbClr val="D84C4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Stop point: Do not finalize generation prompts until retrieval can surface the correct evidence consistently.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042416" y="9710928"/>
            <a:ext cx="5486400" cy="219456"/>
            <a:chOff x="0" y="0"/>
            <a:chExt cx="7315200" cy="29260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315200" cy="292608"/>
            </a:xfrm>
            <a:custGeom>
              <a:avLst/>
              <a:gdLst/>
              <a:ahLst/>
              <a:cxnLst/>
              <a:rect l="l" t="t" r="r" b="b"/>
              <a:pathLst>
                <a:path w="7315200" h="292608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731520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4"/>
                </a:lnSpc>
              </a:pPr>
              <a:r>
                <a:rPr lang="en-US" sz="117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AI Clinical Decision Support Lite Hackathon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6527780" y="9642348"/>
            <a:ext cx="685800" cy="246888"/>
            <a:chOff x="0" y="0"/>
            <a:chExt cx="914400" cy="32918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14400" cy="329184"/>
            </a:xfrm>
            <a:custGeom>
              <a:avLst/>
              <a:gdLst/>
              <a:ahLst/>
              <a:cxnLst/>
              <a:rect l="l" t="t" r="r" b="b"/>
              <a:pathLst>
                <a:path w="914400" h="329184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75"/>
                </a:lnSpc>
              </a:pPr>
              <a:r>
                <a:rPr lang="en-US" sz="1230" b="1">
                  <a:solidFill>
                    <a:srgbClr val="5C6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13</a:t>
              </a:r>
            </a:p>
          </p:txBody>
        </p:sp>
      </p:grpSp>
      <p:pic>
        <p:nvPicPr>
          <p:cNvPr id="64" name="Google Shape;90;p1">
            <a:extLst>
              <a:ext uri="{FF2B5EF4-FFF2-40B4-BE49-F238E27FC236}">
                <a16:creationId xmlns:a16="http://schemas.microsoft.com/office/drawing/2014/main" id="{D3B2E944-7519-415A-9FF9-A20DC8739876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06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247960">
            <a:off x="382276" y="849820"/>
            <a:ext cx="1292857" cy="0"/>
          </a:xfrm>
          <a:prstGeom prst="line">
            <a:avLst/>
          </a:prstGeom>
          <a:ln w="28575" cap="rnd">
            <a:solidFill>
              <a:srgbClr val="15B8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576072"/>
            <a:ext cx="13441680" cy="617220"/>
            <a:chOff x="0" y="0"/>
            <a:chExt cx="17922240" cy="8229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End-of-day review questions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6736" y="1234440"/>
            <a:ext cx="12618720" cy="384048"/>
            <a:chOff x="0" y="0"/>
            <a:chExt cx="16824960" cy="5120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24961" cy="512064"/>
            </a:xfrm>
            <a:custGeom>
              <a:avLst/>
              <a:gdLst/>
              <a:ahLst/>
              <a:cxnLst/>
              <a:rect l="l" t="t" r="r" b="b"/>
              <a:pathLst>
                <a:path w="16824961" h="512064">
                  <a:moveTo>
                    <a:pt x="0" y="0"/>
                  </a:moveTo>
                  <a:lnTo>
                    <a:pt x="16824961" y="0"/>
                  </a:lnTo>
                  <a:lnTo>
                    <a:pt x="168249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0222" b="-59022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6824960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Use these questions to decide whether the team is ready for Day 3: Grounded Generation &amp; Citation.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2820">
            <a:off x="1022032" y="1682306"/>
            <a:ext cx="16266805" cy="0"/>
          </a:xfrm>
          <a:prstGeom prst="line">
            <a:avLst/>
          </a:prstGeom>
          <a:ln w="9525" cap="rnd">
            <a:solidFill>
              <a:srgbClr val="D8DE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156335" y="2116455"/>
            <a:ext cx="4751070" cy="5368290"/>
            <a:chOff x="0" y="0"/>
            <a:chExt cx="6334760" cy="71577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34760" cy="7157720"/>
            </a:xfrm>
            <a:custGeom>
              <a:avLst/>
              <a:gdLst/>
              <a:ahLst/>
              <a:cxnLst/>
              <a:rect l="l" t="t" r="r" b="b"/>
              <a:pathLst>
                <a:path w="6334760" h="7157720">
                  <a:moveTo>
                    <a:pt x="0" y="238633"/>
                  </a:moveTo>
                  <a:cubicBezTo>
                    <a:pt x="0" y="106807"/>
                    <a:pt x="106807" y="0"/>
                    <a:pt x="238633" y="0"/>
                  </a:cubicBezTo>
                  <a:lnTo>
                    <a:pt x="6096127" y="0"/>
                  </a:lnTo>
                  <a:cubicBezTo>
                    <a:pt x="6227953" y="0"/>
                    <a:pt x="6334760" y="106807"/>
                    <a:pt x="6334760" y="238633"/>
                  </a:cubicBezTo>
                  <a:lnTo>
                    <a:pt x="6334760" y="6919087"/>
                  </a:lnTo>
                  <a:cubicBezTo>
                    <a:pt x="6334760" y="7050913"/>
                    <a:pt x="6227953" y="7157720"/>
                    <a:pt x="6096127" y="7157720"/>
                  </a:cubicBezTo>
                  <a:lnTo>
                    <a:pt x="238633" y="7157720"/>
                  </a:lnTo>
                  <a:cubicBezTo>
                    <a:pt x="106807" y="7157720"/>
                    <a:pt x="0" y="7050913"/>
                    <a:pt x="0" y="6919087"/>
                  </a:cubicBezTo>
                  <a:close/>
                </a:path>
              </a:pathLst>
            </a:custGeom>
            <a:solidFill>
              <a:srgbClr val="EAF3FF"/>
            </a:solidFill>
            <a:ln w="19050" cap="sq">
              <a:solidFill>
                <a:srgbClr val="2F80ED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412748" y="2331720"/>
            <a:ext cx="4238244" cy="329184"/>
            <a:chOff x="0" y="0"/>
            <a:chExt cx="5650992" cy="4389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50992" cy="438912"/>
            </a:xfrm>
            <a:custGeom>
              <a:avLst/>
              <a:gdLst/>
              <a:ahLst/>
              <a:cxnLst/>
              <a:rect l="l" t="t" r="r" b="b"/>
              <a:pathLst>
                <a:path w="5650992" h="438912">
                  <a:moveTo>
                    <a:pt x="0" y="0"/>
                  </a:moveTo>
                  <a:lnTo>
                    <a:pt x="5650992" y="0"/>
                  </a:lnTo>
                  <a:lnTo>
                    <a:pt x="565099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869" b="-200869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565099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Retrieval quality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13005" y="2847851"/>
            <a:ext cx="4237739" cy="4462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Does Top-K include the correct evidence?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Is the best chunk near the top?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Are scores logged?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Are weak results visible?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711315" y="2116455"/>
            <a:ext cx="4751070" cy="5368290"/>
            <a:chOff x="0" y="0"/>
            <a:chExt cx="6334760" cy="71577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34760" cy="7157720"/>
            </a:xfrm>
            <a:custGeom>
              <a:avLst/>
              <a:gdLst/>
              <a:ahLst/>
              <a:cxnLst/>
              <a:rect l="l" t="t" r="r" b="b"/>
              <a:pathLst>
                <a:path w="6334760" h="7157720">
                  <a:moveTo>
                    <a:pt x="0" y="238633"/>
                  </a:moveTo>
                  <a:cubicBezTo>
                    <a:pt x="0" y="106807"/>
                    <a:pt x="106807" y="0"/>
                    <a:pt x="238633" y="0"/>
                  </a:cubicBezTo>
                  <a:lnTo>
                    <a:pt x="6096127" y="0"/>
                  </a:lnTo>
                  <a:cubicBezTo>
                    <a:pt x="6227953" y="0"/>
                    <a:pt x="6334760" y="106807"/>
                    <a:pt x="6334760" y="238633"/>
                  </a:cubicBezTo>
                  <a:lnTo>
                    <a:pt x="6334760" y="6919087"/>
                  </a:lnTo>
                  <a:cubicBezTo>
                    <a:pt x="6334760" y="7050913"/>
                    <a:pt x="6227953" y="7157720"/>
                    <a:pt x="6096127" y="7157720"/>
                  </a:cubicBezTo>
                  <a:lnTo>
                    <a:pt x="238633" y="7157720"/>
                  </a:lnTo>
                  <a:cubicBezTo>
                    <a:pt x="106807" y="7157720"/>
                    <a:pt x="0" y="7050913"/>
                    <a:pt x="0" y="6919087"/>
                  </a:cubicBezTo>
                  <a:close/>
                </a:path>
              </a:pathLst>
            </a:custGeom>
            <a:solidFill>
              <a:srgbClr val="EAFBF7"/>
            </a:solidFill>
            <a:ln w="19050" cap="sq">
              <a:solidFill>
                <a:srgbClr val="15B8A6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967728" y="2331720"/>
            <a:ext cx="4238244" cy="329184"/>
            <a:chOff x="0" y="0"/>
            <a:chExt cx="5650992" cy="4389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50992" cy="438912"/>
            </a:xfrm>
            <a:custGeom>
              <a:avLst/>
              <a:gdLst/>
              <a:ahLst/>
              <a:cxnLst/>
              <a:rect l="l" t="t" r="r" b="b"/>
              <a:pathLst>
                <a:path w="5650992" h="438912">
                  <a:moveTo>
                    <a:pt x="0" y="0"/>
                  </a:moveTo>
                  <a:lnTo>
                    <a:pt x="5650992" y="0"/>
                  </a:lnTo>
                  <a:lnTo>
                    <a:pt x="565099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869" b="-200869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565099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Evaluation quality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967985" y="2847851"/>
            <a:ext cx="4237739" cy="4462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Is there a labeled question set?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Are Precision@K values calculated?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Were chunk settings compared?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Are findings documented?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266295" y="2116455"/>
            <a:ext cx="4271010" cy="5368290"/>
            <a:chOff x="0" y="0"/>
            <a:chExt cx="5694680" cy="71577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694680" cy="7157720"/>
            </a:xfrm>
            <a:custGeom>
              <a:avLst/>
              <a:gdLst/>
              <a:ahLst/>
              <a:cxnLst/>
              <a:rect l="l" t="t" r="r" b="b"/>
              <a:pathLst>
                <a:path w="5694680" h="7157720">
                  <a:moveTo>
                    <a:pt x="0" y="238887"/>
                  </a:moveTo>
                  <a:cubicBezTo>
                    <a:pt x="0" y="106934"/>
                    <a:pt x="106934" y="0"/>
                    <a:pt x="238887" y="0"/>
                  </a:cubicBezTo>
                  <a:lnTo>
                    <a:pt x="5455793" y="0"/>
                  </a:lnTo>
                  <a:cubicBezTo>
                    <a:pt x="5587746" y="0"/>
                    <a:pt x="5694680" y="106934"/>
                    <a:pt x="5694680" y="238887"/>
                  </a:cubicBezTo>
                  <a:lnTo>
                    <a:pt x="5694680" y="6918833"/>
                  </a:lnTo>
                  <a:cubicBezTo>
                    <a:pt x="5694680" y="7050786"/>
                    <a:pt x="5587746" y="7157720"/>
                    <a:pt x="5455793" y="7157720"/>
                  </a:cubicBezTo>
                  <a:lnTo>
                    <a:pt x="238887" y="7157720"/>
                  </a:lnTo>
                  <a:cubicBezTo>
                    <a:pt x="106934" y="7157720"/>
                    <a:pt x="0" y="7050786"/>
                    <a:pt x="0" y="6918833"/>
                  </a:cubicBezTo>
                  <a:close/>
                </a:path>
              </a:pathLst>
            </a:custGeom>
            <a:solidFill>
              <a:srgbClr val="FFF2D8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522708" y="2331720"/>
            <a:ext cx="3758184" cy="329184"/>
            <a:chOff x="0" y="0"/>
            <a:chExt cx="5010912" cy="4389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010912" cy="438912"/>
            </a:xfrm>
            <a:custGeom>
              <a:avLst/>
              <a:gdLst/>
              <a:ahLst/>
              <a:cxnLst/>
              <a:rect l="l" t="t" r="r" b="b"/>
              <a:pathLst>
                <a:path w="5010912" h="438912">
                  <a:moveTo>
                    <a:pt x="0" y="0"/>
                  </a:moveTo>
                  <a:lnTo>
                    <a:pt x="5010912" y="0"/>
                  </a:lnTo>
                  <a:lnTo>
                    <a:pt x="50109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454" b="-172454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5010912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905" b="1">
                  <a:solidFill>
                    <a:srgbClr val="0F274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 readiness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522965" y="2847851"/>
            <a:ext cx="3757679" cy="4462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Can the team show query → chunks → citations metadata?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Can they explain why retrieval is trustworthy?</a:t>
            </a:r>
          </a:p>
          <a:p>
            <a:pPr algn="l">
              <a:lnSpc>
                <a:spcPts val="1854"/>
              </a:lnSpc>
            </a:pPr>
            <a:r>
              <a:rPr lang="en-US" sz="154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• Can they show at least one failure case?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116455" y="8220075"/>
            <a:ext cx="13666470" cy="677418"/>
            <a:chOff x="0" y="0"/>
            <a:chExt cx="18221960" cy="90322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221961" cy="903224"/>
            </a:xfrm>
            <a:custGeom>
              <a:avLst/>
              <a:gdLst/>
              <a:ahLst/>
              <a:cxnLst/>
              <a:rect l="l" t="t" r="r" b="b"/>
              <a:pathLst>
                <a:path w="18221961" h="903224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17883251" y="0"/>
                  </a:lnTo>
                  <a:cubicBezTo>
                    <a:pt x="18070322" y="0"/>
                    <a:pt x="18221961" y="151638"/>
                    <a:pt x="18221961" y="338709"/>
                  </a:cubicBezTo>
                  <a:lnTo>
                    <a:pt x="18221961" y="564515"/>
                  </a:lnTo>
                  <a:cubicBezTo>
                    <a:pt x="18221961" y="751586"/>
                    <a:pt x="18070322" y="903224"/>
                    <a:pt x="17883251" y="903224"/>
                  </a:cubicBezTo>
                  <a:lnTo>
                    <a:pt x="338709" y="903224"/>
                  </a:lnTo>
                  <a:cubicBezTo>
                    <a:pt x="151638" y="903224"/>
                    <a:pt x="0" y="751586"/>
                    <a:pt x="0" y="564515"/>
                  </a:cubicBezTo>
                  <a:close/>
                </a:path>
              </a:pathLst>
            </a:custGeom>
            <a:solidFill>
              <a:srgbClr val="0F2742"/>
            </a:solidFill>
            <a:ln w="19050" cap="sq">
              <a:solidFill>
                <a:srgbClr val="0F2742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2468880" y="8421624"/>
            <a:ext cx="12961620" cy="219456"/>
            <a:chOff x="0" y="0"/>
            <a:chExt cx="17282160" cy="29260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7282161" cy="292608"/>
            </a:xfrm>
            <a:custGeom>
              <a:avLst/>
              <a:gdLst/>
              <a:ahLst/>
              <a:cxnLst/>
              <a:rect l="l" t="t" r="r" b="b"/>
              <a:pathLst>
                <a:path w="17282161" h="292608">
                  <a:moveTo>
                    <a:pt x="0" y="0"/>
                  </a:moveTo>
                  <a:lnTo>
                    <a:pt x="17282161" y="0"/>
                  </a:lnTo>
                  <a:lnTo>
                    <a:pt x="17282161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0835" b="-1100835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17282160" cy="321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32"/>
                </a:lnSpc>
              </a:pPr>
              <a:r>
                <a:rPr lang="en-US" sz="186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Ready for Day 3 when the team can show measured retrieval, not just working search.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42416" y="9710928"/>
            <a:ext cx="5486400" cy="219456"/>
            <a:chOff x="0" y="0"/>
            <a:chExt cx="7315200" cy="29260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315200" cy="292608"/>
            </a:xfrm>
            <a:custGeom>
              <a:avLst/>
              <a:gdLst/>
              <a:ahLst/>
              <a:cxnLst/>
              <a:rect l="l" t="t" r="r" b="b"/>
              <a:pathLst>
                <a:path w="7315200" h="292608">
                  <a:moveTo>
                    <a:pt x="0" y="0"/>
                  </a:moveTo>
                  <a:lnTo>
                    <a:pt x="7315200" y="0"/>
                  </a:lnTo>
                  <a:lnTo>
                    <a:pt x="731520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7315200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4"/>
                </a:lnSpc>
              </a:pPr>
              <a:r>
                <a:rPr lang="en-US" sz="1170">
                  <a:solidFill>
                    <a:srgbClr val="5C667A"/>
                  </a:solidFill>
                  <a:latin typeface="Arial"/>
                  <a:ea typeface="Arial"/>
                  <a:cs typeface="Arial"/>
                  <a:sym typeface="Arial"/>
                </a:rPr>
                <a:t>AI Clinical Decision Support Lite Hackathon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6527780" y="9642348"/>
            <a:ext cx="685800" cy="246888"/>
            <a:chOff x="0" y="0"/>
            <a:chExt cx="914400" cy="32918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14400" cy="329184"/>
            </a:xfrm>
            <a:custGeom>
              <a:avLst/>
              <a:gdLst/>
              <a:ahLst/>
              <a:cxnLst/>
              <a:rect l="l" t="t" r="r" b="b"/>
              <a:pathLst>
                <a:path w="914400" h="329184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25" b="-4125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75"/>
                </a:lnSpc>
              </a:pPr>
              <a:r>
                <a:rPr lang="en-US" sz="1230" b="1">
                  <a:solidFill>
                    <a:srgbClr val="5C66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14</a:t>
              </a:r>
            </a:p>
          </p:txBody>
        </p:sp>
      </p:grpSp>
      <p:pic>
        <p:nvPicPr>
          <p:cNvPr id="42" name="Google Shape;90;p1">
            <a:extLst>
              <a:ext uri="{FF2B5EF4-FFF2-40B4-BE49-F238E27FC236}">
                <a16:creationId xmlns:a16="http://schemas.microsoft.com/office/drawing/2014/main" id="{47C27E51-345C-4D3B-AEAE-891A900F5A3A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06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1394</Words>
  <Application>Microsoft Office PowerPoint</Application>
  <PresentationFormat>Custom</PresentationFormat>
  <Paragraphs>269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 Bold</vt:lpstr>
      <vt:lpstr>Calibri</vt:lpstr>
      <vt:lpstr>Arial</vt:lpstr>
      <vt:lpstr>Office Theme</vt:lpstr>
      <vt:lpstr>AI Clinical Decision Support Lite Hackathon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Day_2_Student_Session_AI_Clinical_Decision_Support_EN.pptx</dc:title>
  <cp:lastModifiedBy>Abdallah Wagih</cp:lastModifiedBy>
  <cp:revision>4</cp:revision>
  <dcterms:created xsi:type="dcterms:W3CDTF">2006-08-16T00:00:00Z</dcterms:created>
  <dcterms:modified xsi:type="dcterms:W3CDTF">2026-07-28T14:59:35Z</dcterms:modified>
  <dc:identifier>DAHQeN0IgIU</dc:identifier>
</cp:coreProperties>
</file>